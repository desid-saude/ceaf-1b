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2.xml" ContentType="application/vnd.openxmlformats-officedocument.drawingml.chart+xml"/>
  <Override PartName="/ppt/charts/chart1.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2092A1-413A-49DB-937F-45B02CB74A4B}">
  <a:tblStyle styleId="{252092A1-413A-49DB-937F-45B02CB74A4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julio.vieira\Downloads\An&#225;lise%20crescimento%20repasse%201B.xlsx" TargetMode="External" /></Relationships>
</file>

<file path=ppt/charts/_rels/chart2.xml.rels><?xml version="1.0" encoding="UTF-8" standalone="yes"?>
<Relationships xmlns="http://schemas.openxmlformats.org/package/2006/relationships"><Relationship Id="rId1" Type="http://schemas.openxmlformats.org/officeDocument/2006/relationships/oleObject" Target="https://saudegov-my.sharepoint.com/personal/julio_vieira_saude_gov_br/Documents/modelo_de_apresenta&#231;&#227;o_1%20(1)_Pizza.xlsx" TargetMode="Externa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'[Análise crescimento repasse 1B.xlsx]Projetado x Repassado'!$A$10</c:f>
              <c:strCache>
                <c:ptCount val="1"/>
                <c:pt idx="0">
                  <c:v>Projetado</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'[Análise crescimento repasse 1B.xlsx]Projetado x Repassado'!$A$11</c:f>
              <c:numCache>
                <c:formatCode>#,##0.00</c:formatCode>
                <c:ptCount val="1"/>
                <c:pt idx="0">
                  <c:v>1297332335.0899999</c:v>
                </c:pt>
              </c:numCache>
            </c:numRef>
          </c:val>
          <c:extLst>
            <c:ext xmlns:c16="http://schemas.microsoft.com/office/drawing/2014/chart" uri="{C3380CC4-5D6E-409C-BE32-E72D297353CC}">
              <c16:uniqueId val="{00000000-EC0F-4B33-B3AA-BEB3A7F684A6}"/>
            </c:ext>
          </c:extLst>
        </c:ser>
        <c:ser>
          <c:idx val="1"/>
          <c:order val="1"/>
          <c:tx>
            <c:strRef>
              <c:f>'[Análise crescimento repasse 1B.xlsx]Projetado x Repassado'!$B$10</c:f>
              <c:strCache>
                <c:ptCount val="1"/>
                <c:pt idx="0">
                  <c:v>SPO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'[Análise crescimento repasse 1B.xlsx]Projetado x Repassado'!$B$11</c:f>
              <c:numCache>
                <c:formatCode>#,##0.00</c:formatCode>
                <c:ptCount val="1"/>
                <c:pt idx="0">
                  <c:v>990000000</c:v>
                </c:pt>
              </c:numCache>
            </c:numRef>
          </c:val>
          <c:extLst>
            <c:ext xmlns:c16="http://schemas.microsoft.com/office/drawing/2014/chart" uri="{C3380CC4-5D6E-409C-BE32-E72D297353CC}">
              <c16:uniqueId val="{00000001-EC0F-4B33-B3AA-BEB3A7F684A6}"/>
            </c:ext>
          </c:extLst>
        </c:ser>
        <c:ser>
          <c:idx val="2"/>
          <c:order val="2"/>
          <c:tx>
            <c:strRef>
              <c:f>'[Análise crescimento repasse 1B.xlsx]Projetado x Repassado'!$C$10</c:f>
              <c:strCache>
                <c:ptCount val="1"/>
                <c:pt idx="0">
                  <c:v>Repassado</c:v>
                </c:pt>
              </c:strCache>
            </c:strRef>
          </c:tx>
          <c:spPr>
            <a:solidFill>
              <a:schemeClr val="accent4"/>
            </a:solidFill>
            <a:ln>
              <a:solidFill>
                <a:schemeClr val="accent4"/>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'[Análise crescimento repasse 1B.xlsx]Projetado x Repassado'!$C$11</c:f>
              <c:numCache>
                <c:formatCode>#,##0.00</c:formatCode>
                <c:ptCount val="1"/>
                <c:pt idx="0">
                  <c:v>1322673975.6600001</c:v>
                </c:pt>
              </c:numCache>
            </c:numRef>
          </c:val>
          <c:extLst>
            <c:ext xmlns:c16="http://schemas.microsoft.com/office/drawing/2014/chart" uri="{C3380CC4-5D6E-409C-BE32-E72D297353CC}">
              <c16:uniqueId val="{00000002-EC0F-4B33-B3AA-BEB3A7F684A6}"/>
            </c:ext>
          </c:extLst>
        </c:ser>
        <c:dLbls>
          <c:dLblPos val="outEnd"/>
          <c:showLegendKey val="0"/>
          <c:showVal val="1"/>
          <c:showCatName val="0"/>
          <c:showSerName val="0"/>
          <c:showPercent val="0"/>
          <c:showBubbleSize val="0"/>
        </c:dLbls>
        <c:gapWidth val="219"/>
        <c:overlap val="-27"/>
        <c:axId val="1983073800"/>
        <c:axId val="1983088136"/>
      </c:barChart>
      <c:catAx>
        <c:axId val="1983073800"/>
        <c:scaling>
          <c:orientation val="minMax"/>
        </c:scaling>
        <c:delete val="1"/>
        <c:axPos val="b"/>
        <c:numFmt formatCode="General" sourceLinked="1"/>
        <c:majorTickMark val="none"/>
        <c:minorTickMark val="none"/>
        <c:tickLblPos val="nextTo"/>
        <c:crossAx val="1983088136"/>
        <c:crosses val="autoZero"/>
        <c:auto val="1"/>
        <c:lblAlgn val="ctr"/>
        <c:lblOffset val="100"/>
        <c:noMultiLvlLbl val="0"/>
      </c:catAx>
      <c:valAx>
        <c:axId val="198308813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983073800"/>
        <c:crosses val="autoZero"/>
        <c:crossBetween val="between"/>
      </c:valAx>
      <c:spPr>
        <a:solidFill>
          <a:sysClr val="window" lastClr="FFFFFF"/>
        </a:solidFill>
        <a:ln>
          <a:noFill/>
        </a:ln>
        <a:effectLst/>
      </c:spPr>
    </c:plotArea>
    <c:plotVisOnly val="1"/>
    <c:dispBlanksAs val="gap"/>
    <c:showDLblsOverMax val="0"/>
  </c:chart>
  <c:spPr>
    <a:solidFill>
      <a:sysClr val="window" lastClr="FFFFFF"/>
    </a:solidFill>
    <a:ln w="9525" cap="flat" cmpd="sng" algn="ctr">
      <a:solidFill>
        <a:schemeClr val="tx1">
          <a:lumMod val="15000"/>
          <a:lumOff val="85000"/>
        </a:schemeClr>
      </a:solidFill>
      <a:round/>
    </a:ln>
    <a:effectLst/>
  </c:spPr>
  <c:txPr>
    <a:bodyPr/>
    <a:lstStyle/>
    <a:p>
      <a:pPr>
        <a:defRPr/>
      </a:pPr>
      <a:endParaRPr lang="pt-B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rgbClr val="FFFFFF"/>
              </a:solidFill>
              <a:latin typeface="+mn-lt"/>
              <a:ea typeface="+mn-ea"/>
              <a:cs typeface="+mn-cs"/>
            </a:defRPr>
          </a:pPr>
          <a:endParaRPr lang="pt-BR"/>
        </a:p>
      </c:txPr>
    </c:title>
    <c:autoTitleDeleted val="0"/>
    <c:plotArea>
      <c:layout/>
      <c:pieChart>
        <c:varyColors val="1"/>
        <c:ser>
          <c:idx val="0"/>
          <c:order val="0"/>
          <c:tx>
            <c:strRef>
              <c:f>Sheet1!$B$1</c:f>
              <c:strCache>
                <c:ptCount val="1"/>
                <c:pt idx="0">
                  <c:v>Valores recebidos</c:v>
                </c:pt>
              </c:strCache>
            </c:strRef>
          </c:tx>
          <c:dPt>
            <c:idx val="0"/>
            <c:bubble3D val="0"/>
            <c:spPr>
              <a:solidFill>
                <a:srgbClr val="637CEF"/>
              </a:solidFill>
              <a:ln w="19050">
                <a:solidFill>
                  <a:schemeClr val="lt1"/>
                </a:solidFill>
              </a:ln>
              <a:effectLst/>
            </c:spPr>
            <c:extLst>
              <c:ext xmlns:c16="http://schemas.microsoft.com/office/drawing/2014/chart" uri="{C3380CC4-5D6E-409C-BE32-E72D297353CC}">
                <c16:uniqueId val="{00000001-5DA4-43EB-B7D0-080CADE2DF02}"/>
              </c:ext>
            </c:extLst>
          </c:dPt>
          <c:dPt>
            <c:idx val="1"/>
            <c:bubble3D val="0"/>
            <c:spPr>
              <a:solidFill>
                <a:srgbClr val="E3008C"/>
              </a:solidFill>
              <a:ln w="19050">
                <a:solidFill>
                  <a:schemeClr val="lt1"/>
                </a:solidFill>
              </a:ln>
              <a:effectLst/>
            </c:spPr>
            <c:extLst>
              <c:ext xmlns:c16="http://schemas.microsoft.com/office/drawing/2014/chart" uri="{C3380CC4-5D6E-409C-BE32-E72D297353CC}">
                <c16:uniqueId val="{00000003-5DA4-43EB-B7D0-080CADE2DF02}"/>
              </c:ext>
            </c:extLst>
          </c:dPt>
          <c:dPt>
            <c:idx val="2"/>
            <c:bubble3D val="0"/>
            <c:spPr>
              <a:solidFill>
                <a:srgbClr val="2AA0A4"/>
              </a:solidFill>
              <a:ln w="19050">
                <a:solidFill>
                  <a:schemeClr val="lt1"/>
                </a:solidFill>
              </a:ln>
              <a:effectLst/>
            </c:spPr>
            <c:extLst>
              <c:ext xmlns:c16="http://schemas.microsoft.com/office/drawing/2014/chart" uri="{C3380CC4-5D6E-409C-BE32-E72D297353CC}">
                <c16:uniqueId val="{00000005-5DA4-43EB-B7D0-080CADE2DF0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FFFFFF"/>
                    </a:solidFill>
                    <a:latin typeface="+mn-lt"/>
                    <a:ea typeface="+mn-ea"/>
                    <a:cs typeface="+mn-cs"/>
                  </a:defRPr>
                </a:pPr>
                <a:endParaRPr lang="pt-BR"/>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Diferença à maior</c:v>
                </c:pt>
                <c:pt idx="1">
                  <c:v>Sem diferença</c:v>
                </c:pt>
                <c:pt idx="2">
                  <c:v>Diferença à menor</c:v>
                </c:pt>
              </c:strCache>
            </c:strRef>
          </c:cat>
          <c:val>
            <c:numRef>
              <c:f>Sheet1!$B$2:$B$4</c:f>
              <c:numCache>
                <c:formatCode>General</c:formatCode>
                <c:ptCount val="3"/>
                <c:pt idx="0">
                  <c:v>22</c:v>
                </c:pt>
                <c:pt idx="1">
                  <c:v>19</c:v>
                </c:pt>
                <c:pt idx="2">
                  <c:v>17</c:v>
                </c:pt>
              </c:numCache>
            </c:numRef>
          </c:val>
          <c:extLst>
            <c:ext xmlns:c16="http://schemas.microsoft.com/office/drawing/2014/chart" uri="{C3380CC4-5D6E-409C-BE32-E72D297353CC}">
              <c16:uniqueId val="{00000006-5DA4-43EB-B7D0-080CADE2DF02}"/>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l"/>
      <c:overlay val="1"/>
      <c:spPr>
        <a:noFill/>
        <a:ln>
          <a:noFill/>
        </a:ln>
        <a:effectLst/>
      </c:spPr>
      <c:txPr>
        <a:bodyPr rot="0" spcFirstLastPara="1" vertOverflow="ellipsis" vert="horz" wrap="square" anchor="ctr" anchorCtr="1"/>
        <a:lstStyle/>
        <a:p>
          <a:pPr>
            <a:defRPr sz="1000" b="0" i="0" u="none" strike="noStrike" kern="1200" baseline="0">
              <a:solidFill>
                <a:srgbClr val="FFFFFF"/>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77"/>
        <p:cNvGrpSpPr/>
        <p:nvPr/>
      </p:nvGrpSpPr>
      <p:grpSpPr>
        <a:xfrm>
          <a:off x="0" y="0"/>
          <a:ext cx="0" cy="0"/>
          <a:chOff x="0" y="0"/>
          <a:chExt cx="0" cy="0"/>
        </a:xfrm>
      </p:grpSpPr>
      <p:sp>
        <p:nvSpPr>
          <p:cNvPr id="278" name="Google Shape;278;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p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6" name="Google Shape;446;p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286"/>
        <p:cNvGrpSpPr/>
        <p:nvPr/>
      </p:nvGrpSpPr>
      <p:grpSpPr>
        <a:xfrm>
          <a:off x="0" y="0"/>
          <a:ext cx="0" cy="0"/>
          <a:chOff x="0" y="0"/>
          <a:chExt cx="0" cy="0"/>
        </a:xfrm>
      </p:grpSpPr>
      <p:sp>
        <p:nvSpPr>
          <p:cNvPr id="287" name="Google Shape;287;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8" name="Google Shape;288;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289" name="Google Shape;289;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0" name="Google Shape;290;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1" name="Google Shape;291;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92"/>
        <p:cNvGrpSpPr/>
        <p:nvPr/>
      </p:nvGrpSpPr>
      <p:grpSpPr>
        <a:xfrm>
          <a:off x="0" y="0"/>
          <a:ext cx="0" cy="0"/>
          <a:chOff x="0" y="0"/>
          <a:chExt cx="0" cy="0"/>
        </a:xfrm>
      </p:grpSpPr>
      <p:sp>
        <p:nvSpPr>
          <p:cNvPr id="293" name="Google Shape;293;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4" name="Google Shape;294;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5" name="Google Shape;295;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6" name="Google Shape;296;p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7" name="Google Shape;297;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98"/>
        <p:cNvGrpSpPr/>
        <p:nvPr/>
      </p:nvGrpSpPr>
      <p:grpSpPr>
        <a:xfrm>
          <a:off x="0" y="0"/>
          <a:ext cx="0" cy="0"/>
          <a:chOff x="0" y="0"/>
          <a:chExt cx="0" cy="0"/>
        </a:xfrm>
      </p:grpSpPr>
      <p:sp>
        <p:nvSpPr>
          <p:cNvPr id="299" name="Google Shape;299;p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0" name="Google Shape;300;p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1" name="Google Shape;301;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2" name="Google Shape;302;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3" name="Google Shape;303;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04"/>
        <p:cNvGrpSpPr/>
        <p:nvPr/>
      </p:nvGrpSpPr>
      <p:grpSpPr>
        <a:xfrm>
          <a:off x="0" y="0"/>
          <a:ext cx="0" cy="0"/>
          <a:chOff x="0" y="0"/>
          <a:chExt cx="0" cy="0"/>
        </a:xfrm>
      </p:grpSpPr>
      <p:sp>
        <p:nvSpPr>
          <p:cNvPr id="305" name="Google Shape;305;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6" name="Google Shape;306;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7" name="Google Shape;307;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8" name="Google Shape;308;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9" name="Google Shape;309;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0" name="Google Shape;310;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11"/>
        <p:cNvGrpSpPr/>
        <p:nvPr/>
      </p:nvGrpSpPr>
      <p:grpSpPr>
        <a:xfrm>
          <a:off x="0" y="0"/>
          <a:ext cx="0" cy="0"/>
          <a:chOff x="0" y="0"/>
          <a:chExt cx="0" cy="0"/>
        </a:xfrm>
      </p:grpSpPr>
      <p:sp>
        <p:nvSpPr>
          <p:cNvPr id="312" name="Google Shape;312;p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3" name="Google Shape;313;p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314" name="Google Shape;314;p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5" name="Google Shape;315;p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316" name="Google Shape;316;p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7" name="Google Shape;317;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8" name="Google Shape;318;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9" name="Google Shape;319;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320"/>
        <p:cNvGrpSpPr/>
        <p:nvPr/>
      </p:nvGrpSpPr>
      <p:grpSpPr>
        <a:xfrm>
          <a:off x="0" y="0"/>
          <a:ext cx="0" cy="0"/>
          <a:chOff x="0" y="0"/>
          <a:chExt cx="0" cy="0"/>
        </a:xfrm>
      </p:grpSpPr>
      <p:sp>
        <p:nvSpPr>
          <p:cNvPr id="321" name="Google Shape;321;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22" name="Google Shape;322;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3" name="Google Shape;323;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4" name="Google Shape;324;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325"/>
        <p:cNvGrpSpPr/>
        <p:nvPr/>
      </p:nvGrpSpPr>
      <p:grpSpPr>
        <a:xfrm>
          <a:off x="0" y="0"/>
          <a:ext cx="0" cy="0"/>
          <a:chOff x="0" y="0"/>
          <a:chExt cx="0" cy="0"/>
        </a:xfrm>
      </p:grpSpPr>
      <p:sp>
        <p:nvSpPr>
          <p:cNvPr id="326" name="Google Shape;326;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7" name="Google Shape;327;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8" name="Google Shape;328;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329"/>
        <p:cNvGrpSpPr/>
        <p:nvPr/>
      </p:nvGrpSpPr>
      <p:grpSpPr>
        <a:xfrm>
          <a:off x="0" y="0"/>
          <a:ext cx="0" cy="0"/>
          <a:chOff x="0" y="0"/>
          <a:chExt cx="0" cy="0"/>
        </a:xfrm>
      </p:grpSpPr>
      <p:sp>
        <p:nvSpPr>
          <p:cNvPr id="330" name="Google Shape;330;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1" name="Google Shape;331;p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332" name="Google Shape;332;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333" name="Google Shape;333;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4" name="Google Shape;334;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5" name="Google Shape;335;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336"/>
        <p:cNvGrpSpPr/>
        <p:nvPr/>
      </p:nvGrpSpPr>
      <p:grpSpPr>
        <a:xfrm>
          <a:off x="0" y="0"/>
          <a:ext cx="0" cy="0"/>
          <a:chOff x="0" y="0"/>
          <a:chExt cx="0" cy="0"/>
        </a:xfrm>
      </p:grpSpPr>
      <p:sp>
        <p:nvSpPr>
          <p:cNvPr id="337" name="Google Shape;337;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8" name="Google Shape;338;p10"/>
          <p:cNvSpPr>
            <a:spLocks noGrp="1"/>
          </p:cNvSpPr>
          <p:nvPr>
            <p:ph type="pic" idx="2"/>
          </p:nvPr>
        </p:nvSpPr>
        <p:spPr>
          <a:xfrm>
            <a:off x="5183188" y="987425"/>
            <a:ext cx="6172200" cy="4873500"/>
          </a:xfrm>
          <a:prstGeom prst="rect">
            <a:avLst/>
          </a:prstGeom>
          <a:noFill/>
          <a:ln>
            <a:noFill/>
          </a:ln>
        </p:spPr>
      </p:sp>
      <p:sp>
        <p:nvSpPr>
          <p:cNvPr id="339" name="Google Shape;339;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340" name="Google Shape;340;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1" name="Google Shape;341;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2" name="Google Shape;342;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343"/>
        <p:cNvGrpSpPr/>
        <p:nvPr/>
      </p:nvGrpSpPr>
      <p:grpSpPr>
        <a:xfrm>
          <a:off x="0" y="0"/>
          <a:ext cx="0" cy="0"/>
          <a:chOff x="0" y="0"/>
          <a:chExt cx="0" cy="0"/>
        </a:xfrm>
      </p:grpSpPr>
      <p:sp>
        <p:nvSpPr>
          <p:cNvPr id="344" name="Google Shape;344;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5" name="Google Shape;345;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46" name="Google Shape;346;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7" name="Google Shape;347;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8" name="Google Shape;348;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349"/>
        <p:cNvGrpSpPr/>
        <p:nvPr/>
      </p:nvGrpSpPr>
      <p:grpSpPr>
        <a:xfrm>
          <a:off x="0" y="0"/>
          <a:ext cx="0" cy="0"/>
          <a:chOff x="0" y="0"/>
          <a:chExt cx="0" cy="0"/>
        </a:xfrm>
      </p:grpSpPr>
      <p:sp>
        <p:nvSpPr>
          <p:cNvPr id="350" name="Google Shape;350;p1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1" name="Google Shape;351;p1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52" name="Google Shape;352;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53" name="Google Shape;353;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54" name="Google Shape;354;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2" name="Google Shape;282;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3" name="Google Shape;283;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4" name="Google Shape;284;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5.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7.jpg" /><Relationship Id="rId5" Type="http://schemas.openxmlformats.org/officeDocument/2006/relationships/image" Target="../media/image6.png" /><Relationship Id="rId4" Type="http://schemas.openxmlformats.org/officeDocument/2006/relationships/image" Target="../media/image4.png"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4.png"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 Id="rId5" Type="http://schemas.openxmlformats.org/officeDocument/2006/relationships/image" Target="../media/image10.png" /><Relationship Id="rId4" Type="http://schemas.openxmlformats.org/officeDocument/2006/relationships/image" Target="../media/image4.png"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1.xml" /><Relationship Id="rId6" Type="http://schemas.openxmlformats.org/officeDocument/2006/relationships/image" Target="../media/image12.png" /><Relationship Id="rId5" Type="http://schemas.openxmlformats.org/officeDocument/2006/relationships/image" Target="../media/image11.png" /><Relationship Id="rId4" Type="http://schemas.openxmlformats.org/officeDocument/2006/relationships/image" Target="../media/image4.png"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13.png" /><Relationship Id="rId2" Type="http://schemas.openxmlformats.org/officeDocument/2006/relationships/notesSlide" Target="../notesSlides/notesSlide9.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14.png" /><Relationship Id="rId2" Type="http://schemas.openxmlformats.org/officeDocument/2006/relationships/notesSlide" Target="../notesSlides/notesSlide10.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1.xml" /><Relationship Id="rId5" Type="http://schemas.openxmlformats.org/officeDocument/2006/relationships/chart" Target="../charts/chart1.xml" /><Relationship Id="rId4" Type="http://schemas.openxmlformats.org/officeDocument/2006/relationships/image" Target="../media/image4.png"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1.xml" /><Relationship Id="rId5" Type="http://schemas.openxmlformats.org/officeDocument/2006/relationships/image" Target="../media/image15.png" /><Relationship Id="rId4" Type="http://schemas.openxmlformats.org/officeDocument/2006/relationships/image" Target="../media/image4.png"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1.xml" /><Relationship Id="rId5" Type="http://schemas.openxmlformats.org/officeDocument/2006/relationships/chart" Target="../charts/chart2.xml" /><Relationship Id="rId4" Type="http://schemas.openxmlformats.org/officeDocument/2006/relationships/image" Target="../media/image4.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16.png" /><Relationship Id="rId2" Type="http://schemas.openxmlformats.org/officeDocument/2006/relationships/notesSlide" Target="../notesSlides/notesSlide16.xml" /><Relationship Id="rId1" Type="http://schemas.openxmlformats.org/officeDocument/2006/relationships/slideLayout" Target="../slideLayouts/slideLayout1.xml" /><Relationship Id="rId6" Type="http://schemas.openxmlformats.org/officeDocument/2006/relationships/image" Target="../media/image2.png" /><Relationship Id="rId5" Type="http://schemas.openxmlformats.org/officeDocument/2006/relationships/image" Target="../media/image3.png" /><Relationship Id="rId4"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Google Shape;359;p13"/>
          <p:cNvSpPr txBox="1">
            <a:spLocks noGrp="1"/>
          </p:cNvSpPr>
          <p:nvPr>
            <p:ph type="ctrTitle"/>
          </p:nvPr>
        </p:nvSpPr>
        <p:spPr>
          <a:xfrm>
            <a:off x="617106" y="2494384"/>
            <a:ext cx="10950600" cy="15429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400"/>
              <a:buFont typeface="Montserrat ExtraBold"/>
              <a:buNone/>
            </a:pPr>
            <a:r>
              <a:rPr lang="pt-BR" sz="4400" b="1">
                <a:solidFill>
                  <a:schemeClr val="lt1"/>
                </a:solidFill>
                <a:latin typeface="Montserrat ExtraBold"/>
                <a:ea typeface="Montserrat ExtraBold"/>
                <a:cs typeface="Montserrat ExtraBold"/>
                <a:sym typeface="Montserrat ExtraBold"/>
              </a:rPr>
              <a:t>Análise do financiamento do Grupo 1B do Componente Especializado da Assistência Farmacêutica</a:t>
            </a:r>
            <a:endParaRPr/>
          </a:p>
        </p:txBody>
      </p:sp>
      <p:pic>
        <p:nvPicPr>
          <p:cNvPr id="360" name="Google Shape;360;p13"/>
          <p:cNvPicPr preferRelativeResize="0"/>
          <p:nvPr/>
        </p:nvPicPr>
        <p:blipFill rotWithShape="1">
          <a:blip r:embed="rId4">
            <a:alphaModFix/>
          </a:blip>
          <a:srcRect/>
          <a:stretch/>
        </p:blipFill>
        <p:spPr>
          <a:xfrm>
            <a:off x="-2073827" y="4379508"/>
            <a:ext cx="4714388" cy="4714388"/>
          </a:xfrm>
          <a:prstGeom prst="rect">
            <a:avLst/>
          </a:prstGeom>
          <a:noFill/>
          <a:ln>
            <a:noFill/>
          </a:ln>
        </p:spPr>
      </p:pic>
      <p:pic>
        <p:nvPicPr>
          <p:cNvPr id="361" name="Google Shape;361;p13"/>
          <p:cNvPicPr preferRelativeResize="0"/>
          <p:nvPr/>
        </p:nvPicPr>
        <p:blipFill rotWithShape="1">
          <a:blip r:embed="rId5">
            <a:alphaModFix/>
          </a:blip>
          <a:srcRect/>
          <a:stretch/>
        </p:blipFill>
        <p:spPr>
          <a:xfrm>
            <a:off x="363893" y="175096"/>
            <a:ext cx="905070" cy="905070"/>
          </a:xfrm>
          <a:prstGeom prst="rect">
            <a:avLst/>
          </a:prstGeom>
          <a:noFill/>
          <a:ln>
            <a:noFill/>
          </a:ln>
        </p:spPr>
      </p:pic>
      <p:pic>
        <p:nvPicPr>
          <p:cNvPr id="362" name="Google Shape;362;p13"/>
          <p:cNvPicPr preferRelativeResize="0"/>
          <p:nvPr/>
        </p:nvPicPr>
        <p:blipFill rotWithShape="1">
          <a:blip r:embed="rId6">
            <a:alphaModFix/>
          </a:blip>
          <a:srcRect/>
          <a:stretch/>
        </p:blipFill>
        <p:spPr>
          <a:xfrm>
            <a:off x="9939727" y="133415"/>
            <a:ext cx="2233611" cy="1044419"/>
          </a:xfrm>
          <a:prstGeom prst="rect">
            <a:avLst/>
          </a:prstGeom>
          <a:noFill/>
          <a:ln>
            <a:noFill/>
          </a:ln>
        </p:spPr>
      </p:pic>
      <p:pic>
        <p:nvPicPr>
          <p:cNvPr id="363" name="Google Shape;363;p13"/>
          <p:cNvPicPr preferRelativeResize="0"/>
          <p:nvPr/>
        </p:nvPicPr>
        <p:blipFill rotWithShape="1">
          <a:blip r:embed="rId7">
            <a:alphaModFix/>
          </a:blip>
          <a:srcRect/>
          <a:stretch/>
        </p:blipFill>
        <p:spPr>
          <a:xfrm>
            <a:off x="3892665" y="2907693"/>
            <a:ext cx="4328390" cy="4645910"/>
          </a:xfrm>
          <a:prstGeom prst="rect">
            <a:avLst/>
          </a:prstGeom>
          <a:noFill/>
          <a:ln>
            <a:noFill/>
          </a:ln>
        </p:spPr>
      </p:pic>
      <p:sp>
        <p:nvSpPr>
          <p:cNvPr id="364" name="Google Shape;364;p13"/>
          <p:cNvSpPr txBox="1"/>
          <p:nvPr/>
        </p:nvSpPr>
        <p:spPr>
          <a:xfrm>
            <a:off x="2529840" y="4378960"/>
            <a:ext cx="8524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b="1" i="0" u="none" strike="noStrike" cap="none">
                <a:solidFill>
                  <a:schemeClr val="lt1"/>
                </a:solidFill>
                <a:latin typeface="Montserrat ExtraBold"/>
                <a:ea typeface="Montserrat ExtraBold"/>
                <a:cs typeface="Montserrat ExtraBold"/>
                <a:sym typeface="Montserrat ExtraBold"/>
              </a:rPr>
              <a:t>Departamento de Assistência Farmacêutica e Insumos Estratégicos (DAF)</a:t>
            </a:r>
            <a:endParaRPr sz="1800" b="1">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8"/>
        <p:cNvGrpSpPr/>
        <p:nvPr/>
      </p:nvGrpSpPr>
      <p:grpSpPr>
        <a:xfrm>
          <a:off x="0" y="0"/>
          <a:ext cx="0" cy="0"/>
          <a:chOff x="0" y="0"/>
          <a:chExt cx="0" cy="0"/>
        </a:xfrm>
      </p:grpSpPr>
      <p:pic>
        <p:nvPicPr>
          <p:cNvPr id="369" name="Google Shape;369;p14"/>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370" name="Google Shape;370;p14"/>
          <p:cNvSpPr/>
          <p:nvPr/>
        </p:nvSpPr>
        <p:spPr>
          <a:xfrm>
            <a:off x="-885086" y="1067810"/>
            <a:ext cx="71289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2400">
                <a:solidFill>
                  <a:schemeClr val="lt1"/>
                </a:solidFill>
                <a:latin typeface="Calibri"/>
                <a:ea typeface="Calibri"/>
                <a:cs typeface="Calibri"/>
                <a:sym typeface="Calibri"/>
              </a:rPr>
              <a:t>Repasse de recursos financiamento do grupo 1B</a:t>
            </a:r>
            <a:endParaRPr/>
          </a:p>
        </p:txBody>
      </p:sp>
      <p:sp>
        <p:nvSpPr>
          <p:cNvPr id="371" name="Google Shape;371;p14"/>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72" name="Google Shape;372;p14"/>
          <p:cNvGraphicFramePr/>
          <p:nvPr/>
        </p:nvGraphicFramePr>
        <p:xfrm>
          <a:off x="42730" y="2093719"/>
          <a:ext cx="3000000" cy="3000000"/>
        </p:xfrm>
        <a:graphic>
          <a:graphicData uri="http://schemas.openxmlformats.org/drawingml/2006/table">
            <a:tbl>
              <a:tblPr bandRow="1">
                <a:noFill/>
                <a:tableStyleId>{252092A1-413A-49DB-937F-45B02CB74A4B}</a:tableStyleId>
              </a:tblPr>
              <a:tblGrid>
                <a:gridCol w="2346950">
                  <a:extLst>
                    <a:ext uri="{9D8B030D-6E8A-4147-A177-3AD203B41FA5}">
                      <a16:colId xmlns:a16="http://schemas.microsoft.com/office/drawing/2014/main" val="20000"/>
                    </a:ext>
                  </a:extLst>
                </a:gridCol>
                <a:gridCol w="1886275">
                  <a:extLst>
                    <a:ext uri="{9D8B030D-6E8A-4147-A177-3AD203B41FA5}">
                      <a16:colId xmlns:a16="http://schemas.microsoft.com/office/drawing/2014/main" val="20001"/>
                    </a:ext>
                  </a:extLst>
                </a:gridCol>
                <a:gridCol w="1875850">
                  <a:extLst>
                    <a:ext uri="{9D8B030D-6E8A-4147-A177-3AD203B41FA5}">
                      <a16:colId xmlns:a16="http://schemas.microsoft.com/office/drawing/2014/main" val="20002"/>
                    </a:ext>
                  </a:extLst>
                </a:gridCol>
                <a:gridCol w="1900675">
                  <a:extLst>
                    <a:ext uri="{9D8B030D-6E8A-4147-A177-3AD203B41FA5}">
                      <a16:colId xmlns:a16="http://schemas.microsoft.com/office/drawing/2014/main" val="20003"/>
                    </a:ext>
                  </a:extLst>
                </a:gridCol>
                <a:gridCol w="1997650">
                  <a:extLst>
                    <a:ext uri="{9D8B030D-6E8A-4147-A177-3AD203B41FA5}">
                      <a16:colId xmlns:a16="http://schemas.microsoft.com/office/drawing/2014/main" val="20004"/>
                    </a:ext>
                  </a:extLst>
                </a:gridCol>
                <a:gridCol w="2065525">
                  <a:extLst>
                    <a:ext uri="{9D8B030D-6E8A-4147-A177-3AD203B41FA5}">
                      <a16:colId xmlns:a16="http://schemas.microsoft.com/office/drawing/2014/main" val="20005"/>
                    </a:ext>
                  </a:extLst>
                </a:gridCol>
              </a:tblGrid>
              <a:tr h="328975">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Ação 4705</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2022</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2023</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2024</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2025</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tc>
                  <a:txBody>
                    <a:bodyPr/>
                    <a:lstStyle/>
                    <a:p>
                      <a:pPr marL="0" marR="0" lvl="0" indent="0" algn="ctr" rtl="0">
                        <a:lnSpc>
                          <a:spcPct val="120833"/>
                        </a:lnSpc>
                        <a:spcBef>
                          <a:spcPts val="0"/>
                        </a:spcBef>
                        <a:spcAft>
                          <a:spcPts val="0"/>
                        </a:spcAft>
                        <a:buClr>
                          <a:srgbClr val="FFFFFF"/>
                        </a:buClr>
                        <a:buSzPts val="1800"/>
                        <a:buFont typeface="Roboto"/>
                        <a:buNone/>
                      </a:pPr>
                      <a:r>
                        <a:rPr lang="pt-BR" sz="1800" b="1" u="none" strike="noStrike" cap="none">
                          <a:solidFill>
                            <a:srgbClr val="FFFFFF"/>
                          </a:solidFill>
                          <a:latin typeface="Roboto"/>
                          <a:ea typeface="Roboto"/>
                          <a:cs typeface="Roboto"/>
                          <a:sym typeface="Roboto"/>
                        </a:rPr>
                        <a:t>2026</a:t>
                      </a:r>
                      <a:endParaRPr sz="1800" b="1" u="none" strike="noStrike" cap="none">
                        <a:solidFill>
                          <a:srgbClr val="FFFFFF"/>
                        </a:solidFill>
                        <a:latin typeface="Roboto"/>
                        <a:ea typeface="Roboto"/>
                        <a:cs typeface="Roboto"/>
                        <a:sym typeface="Roboto"/>
                      </a:endParaRPr>
                    </a:p>
                  </a:txBody>
                  <a:tcPr marL="91450" marR="91450" marT="45725" marB="45725">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35700" cap="flat" cmpd="sng">
                      <a:solidFill>
                        <a:srgbClr val="FFFFFF"/>
                      </a:solidFill>
                      <a:prstDash val="solid"/>
                      <a:round/>
                      <a:headEnd type="none" w="sm" len="sm"/>
                      <a:tailEnd type="none" w="sm" len="sm"/>
                    </a:lnB>
                    <a:solidFill>
                      <a:srgbClr val="013FFE"/>
                    </a:solidFill>
                  </a:tcPr>
                </a:tc>
                <a:extLst>
                  <a:ext uri="{0D108BD9-81ED-4DB2-BD59-A6C34878D82A}">
                    <a16:rowId xmlns:a16="http://schemas.microsoft.com/office/drawing/2014/main" val="10000"/>
                  </a:ext>
                </a:extLst>
              </a:tr>
              <a:tr h="1152525">
                <a:tc>
                  <a:txBody>
                    <a:bodyPr/>
                    <a:lstStyle/>
                    <a:p>
                      <a:pPr marL="0" marR="0" lvl="0" indent="0" algn="ctr" rtl="0">
                        <a:lnSpc>
                          <a:spcPct val="135937"/>
                        </a:lnSpc>
                        <a:spcBef>
                          <a:spcPts val="0"/>
                        </a:spcBef>
                        <a:spcAft>
                          <a:spcPts val="0"/>
                        </a:spcAft>
                        <a:buClr>
                          <a:schemeClr val="dk1"/>
                        </a:buClr>
                        <a:buSzPts val="1600"/>
                        <a:buFont typeface="Roboto"/>
                        <a:buNone/>
                      </a:pPr>
                      <a:r>
                        <a:rPr lang="pt-BR" sz="1600" u="none" strike="noStrike" cap="none">
                          <a:latin typeface="Roboto"/>
                          <a:ea typeface="Roboto"/>
                          <a:cs typeface="Roboto"/>
                          <a:sym typeface="Roboto"/>
                        </a:rPr>
                        <a:t>Repasse 1B</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R$ 470.148.743,31</a:t>
                      </a:r>
                      <a:endParaRPr sz="1800" u="none" strike="noStrike" cap="none">
                        <a:latin typeface="Roboto"/>
                        <a:ea typeface="Roboto"/>
                        <a:cs typeface="Roboto"/>
                        <a:sym typeface="Roboto"/>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R$ 849.522.127,23</a:t>
                      </a:r>
                      <a:endParaRPr sz="1800" u="none" strike="noStrike" cap="none">
                        <a:latin typeface="Roboto"/>
                        <a:ea typeface="Roboto"/>
                        <a:cs typeface="Roboto"/>
                        <a:sym typeface="Roboto"/>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R$ 1.322.673.975,66</a:t>
                      </a:r>
                      <a:endParaRPr sz="1800" u="none" strike="noStrike" cap="none">
                        <a:latin typeface="Roboto"/>
                        <a:ea typeface="Roboto"/>
                        <a:cs typeface="Roboto"/>
                        <a:sym typeface="Roboto"/>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tc>
                  <a:txBody>
                    <a:bodyPr/>
                    <a:lstStyle/>
                    <a:p>
                      <a:pPr marL="0" marR="0" lvl="0" indent="0" algn="ctr" rtl="0">
                        <a:lnSpc>
                          <a:spcPct val="117857"/>
                        </a:lnSpc>
                        <a:spcBef>
                          <a:spcPts val="0"/>
                        </a:spcBef>
                        <a:spcAft>
                          <a:spcPts val="0"/>
                        </a:spcAft>
                        <a:buClr>
                          <a:srgbClr val="000000"/>
                        </a:buClr>
                        <a:buSzPts val="1400"/>
                        <a:buFont typeface="Roboto"/>
                        <a:buNone/>
                      </a:pPr>
                      <a:r>
                        <a:rPr lang="pt-BR" sz="1400" b="0" i="0" u="none" strike="noStrike" cap="none">
                          <a:solidFill>
                            <a:srgbClr val="000000"/>
                          </a:solidFill>
                          <a:latin typeface="Roboto"/>
                          <a:ea typeface="Roboto"/>
                          <a:cs typeface="Roboto"/>
                          <a:sym typeface="Roboto"/>
                        </a:rPr>
                        <a:t>R$ 1.337.082.800,31 </a:t>
                      </a:r>
                      <a:endParaRPr sz="1800" u="none" strike="noStrike" cap="none"/>
                    </a:p>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 (1º,2º e 3º trimestre)</a:t>
                      </a:r>
                      <a:endParaRPr sz="1800" u="none" strike="noStrike" cap="none">
                        <a:latin typeface="Roboto"/>
                        <a:ea typeface="Roboto"/>
                        <a:cs typeface="Roboto"/>
                        <a:sym typeface="Roboto"/>
                      </a:endParaRPr>
                    </a:p>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Projetado CGCEAF</a:t>
                      </a:r>
                      <a:endParaRPr sz="1800" u="none" strike="noStrike" cap="none">
                        <a:latin typeface="Roboto"/>
                        <a:ea typeface="Roboto"/>
                        <a:cs typeface="Roboto"/>
                        <a:sym typeface="Roboto"/>
                      </a:endParaRPr>
                    </a:p>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R$ 1.692.714.147,32</a:t>
                      </a:r>
                      <a:endParaRPr sz="1800" u="none" strike="noStrike" cap="none">
                        <a:latin typeface="Roboto"/>
                        <a:ea typeface="Roboto"/>
                        <a:cs typeface="Roboto"/>
                        <a:sym typeface="Roboto"/>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Projetado CGCEAF</a:t>
                      </a:r>
                      <a:endParaRPr sz="1800" u="none" strike="noStrike" cap="none">
                        <a:latin typeface="Roboto"/>
                        <a:ea typeface="Roboto"/>
                        <a:cs typeface="Roboto"/>
                        <a:sym typeface="Roboto"/>
                      </a:endParaRPr>
                    </a:p>
                    <a:p>
                      <a:pPr marL="0" marR="0" lvl="0" indent="0" algn="ctr" rtl="0">
                        <a:lnSpc>
                          <a:spcPct val="117857"/>
                        </a:lnSpc>
                        <a:spcBef>
                          <a:spcPts val="0"/>
                        </a:spcBef>
                        <a:spcAft>
                          <a:spcPts val="0"/>
                        </a:spcAft>
                        <a:buClr>
                          <a:schemeClr val="dk1"/>
                        </a:buClr>
                        <a:buSzPts val="1400"/>
                        <a:buFont typeface="Roboto"/>
                        <a:buNone/>
                      </a:pPr>
                      <a:r>
                        <a:rPr lang="pt-BR" sz="1400" b="1" u="none" strike="noStrike" cap="none">
                          <a:latin typeface="Roboto"/>
                          <a:ea typeface="Roboto"/>
                          <a:cs typeface="Roboto"/>
                          <a:sym typeface="Roboto"/>
                        </a:rPr>
                        <a:t>R$ 2.552.373.265,52</a:t>
                      </a:r>
                      <a:endParaRPr sz="1800" u="none" strike="noStrike" cap="none">
                        <a:latin typeface="Roboto"/>
                        <a:ea typeface="Roboto"/>
                        <a:cs typeface="Roboto"/>
                        <a:sym typeface="Roboto"/>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357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CBCEFF"/>
                    </a:solidFill>
                  </a:tcPr>
                </a:tc>
                <a:extLst>
                  <a:ext uri="{0D108BD9-81ED-4DB2-BD59-A6C34878D82A}">
                    <a16:rowId xmlns:a16="http://schemas.microsoft.com/office/drawing/2014/main" val="10001"/>
                  </a:ext>
                </a:extLst>
              </a:tr>
              <a:tr h="762000">
                <a:tc>
                  <a:txBody>
                    <a:bodyPr/>
                    <a:lstStyle/>
                    <a:p>
                      <a:pPr marL="0" marR="0" lvl="0" indent="0" algn="ctr" rtl="0">
                        <a:lnSpc>
                          <a:spcPct val="135937"/>
                        </a:lnSpc>
                        <a:spcBef>
                          <a:spcPts val="0"/>
                        </a:spcBef>
                        <a:spcAft>
                          <a:spcPts val="0"/>
                        </a:spcAft>
                        <a:buClr>
                          <a:schemeClr val="dk1"/>
                        </a:buClr>
                        <a:buSzPts val="1600"/>
                        <a:buFont typeface="Roboto"/>
                        <a:buNone/>
                      </a:pPr>
                      <a:r>
                        <a:rPr lang="pt-BR" sz="1600" u="none" strike="noStrike" cap="none">
                          <a:latin typeface="Roboto"/>
                          <a:ea typeface="Roboto"/>
                          <a:cs typeface="Roboto"/>
                          <a:sym typeface="Roboto"/>
                        </a:rPr>
                        <a:t>Crescimento</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80,69 %</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55,70 %</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27,98 %</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tc>
                  <a:txBody>
                    <a:bodyPr/>
                    <a:lstStyle/>
                    <a:p>
                      <a:pPr marL="0" marR="0" lvl="0" indent="0" algn="ctr" rtl="0">
                        <a:lnSpc>
                          <a:spcPct val="117857"/>
                        </a:lnSpc>
                        <a:spcBef>
                          <a:spcPts val="0"/>
                        </a:spcBef>
                        <a:spcAft>
                          <a:spcPts val="0"/>
                        </a:spcAft>
                        <a:buClr>
                          <a:schemeClr val="dk1"/>
                        </a:buClr>
                        <a:buSzPts val="1400"/>
                        <a:buFont typeface="Roboto"/>
                        <a:buNone/>
                      </a:pPr>
                      <a:r>
                        <a:rPr lang="pt-BR" sz="1400" u="none" strike="noStrike" cap="none">
                          <a:latin typeface="Roboto"/>
                          <a:ea typeface="Roboto"/>
                          <a:cs typeface="Roboto"/>
                          <a:sym typeface="Roboto"/>
                        </a:rPr>
                        <a:t>50,79 %</a:t>
                      </a:r>
                      <a:endParaRPr/>
                    </a:p>
                  </a:txBody>
                  <a:tcPr marL="91450" marR="91450" marT="45725" marB="4572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7E8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6"/>
        <p:cNvGrpSpPr/>
        <p:nvPr/>
      </p:nvGrpSpPr>
      <p:grpSpPr>
        <a:xfrm>
          <a:off x="0" y="0"/>
          <a:ext cx="0" cy="0"/>
          <a:chOff x="0" y="0"/>
          <a:chExt cx="0" cy="0"/>
        </a:xfrm>
      </p:grpSpPr>
      <p:pic>
        <p:nvPicPr>
          <p:cNvPr id="377" name="Google Shape;377;p15"/>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378" name="Google Shape;378;p15"/>
          <p:cNvSpPr/>
          <p:nvPr/>
        </p:nvSpPr>
        <p:spPr>
          <a:xfrm>
            <a:off x="-1168115" y="1067810"/>
            <a:ext cx="48024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2800">
                <a:solidFill>
                  <a:srgbClr val="FFFFFF"/>
                </a:solidFill>
                <a:latin typeface="Calibri"/>
                <a:ea typeface="Calibri"/>
                <a:cs typeface="Calibri"/>
                <a:sym typeface="Calibri"/>
              </a:rPr>
              <a:t>PLOA 2026 - Grupo 1B </a:t>
            </a:r>
            <a:endParaRPr sz="1800">
              <a:solidFill>
                <a:schemeClr val="lt1"/>
              </a:solidFill>
              <a:latin typeface="Calibri"/>
              <a:ea typeface="Calibri"/>
              <a:cs typeface="Calibri"/>
              <a:sym typeface="Calibri"/>
            </a:endParaRPr>
          </a:p>
        </p:txBody>
      </p:sp>
      <p:sp>
        <p:nvSpPr>
          <p:cNvPr id="379" name="Google Shape;379;p15"/>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15"/>
          <p:cNvSpPr txBox="1"/>
          <p:nvPr/>
        </p:nvSpPr>
        <p:spPr>
          <a:xfrm>
            <a:off x="429213" y="1844136"/>
            <a:ext cx="10851900" cy="16953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2400"/>
              <a:buFont typeface="Arial"/>
              <a:buChar char="•"/>
            </a:pPr>
            <a:r>
              <a:rPr lang="pt-BR" sz="2400">
                <a:solidFill>
                  <a:srgbClr val="FFFFFF"/>
                </a:solidFill>
                <a:latin typeface="Open Sans"/>
                <a:ea typeface="Open Sans"/>
                <a:cs typeface="Open Sans"/>
                <a:sym typeface="Open Sans"/>
              </a:rPr>
              <a:t>Valor total projetado 2026:</a:t>
            </a:r>
            <a:r>
              <a:rPr lang="pt-BR" sz="2400" b="1">
                <a:solidFill>
                  <a:srgbClr val="FFFFFF"/>
                </a:solidFill>
                <a:latin typeface="Open Sans"/>
                <a:ea typeface="Open Sans"/>
                <a:cs typeface="Open Sans"/>
                <a:sym typeface="Open Sans"/>
              </a:rPr>
              <a:t> R$ 2.552.373.265,52</a:t>
            </a:r>
            <a:endParaRPr/>
          </a:p>
          <a:p>
            <a:pPr marL="0" marR="0" lvl="0" indent="0" algn="just" rtl="0">
              <a:lnSpc>
                <a:spcPct val="150000"/>
              </a:lnSpc>
              <a:spcBef>
                <a:spcPts val="0"/>
              </a:spcBef>
              <a:spcAft>
                <a:spcPts val="0"/>
              </a:spcAft>
              <a:buNone/>
            </a:pPr>
            <a:endParaRPr sz="2400" b="1">
              <a:solidFill>
                <a:srgbClr val="FFFFFF"/>
              </a:solidFill>
              <a:latin typeface="Open Sans"/>
              <a:ea typeface="Open Sans"/>
              <a:cs typeface="Open Sans"/>
              <a:sym typeface="Open Sans"/>
            </a:endParaRPr>
          </a:p>
          <a:p>
            <a:pPr marL="342900" marR="0" lvl="0" indent="-342900" algn="just" rtl="0">
              <a:lnSpc>
                <a:spcPct val="150000"/>
              </a:lnSpc>
              <a:spcBef>
                <a:spcPts val="0"/>
              </a:spcBef>
              <a:spcAft>
                <a:spcPts val="0"/>
              </a:spcAft>
              <a:buClr>
                <a:srgbClr val="FFFFFF"/>
              </a:buClr>
              <a:buSzPts val="2400"/>
              <a:buFont typeface="Arial"/>
              <a:buChar char="•"/>
            </a:pPr>
            <a:r>
              <a:rPr lang="pt-BR" sz="2400" b="1">
                <a:solidFill>
                  <a:srgbClr val="FFFFFF"/>
                </a:solidFill>
                <a:latin typeface="Open Sans"/>
                <a:ea typeface="Open Sans"/>
                <a:cs typeface="Open Sans"/>
                <a:sym typeface="Open Sans"/>
              </a:rPr>
              <a:t>3 apresentações com maiores impactos orçamentários:</a:t>
            </a:r>
            <a:endParaRPr/>
          </a:p>
        </p:txBody>
      </p:sp>
      <p:graphicFrame>
        <p:nvGraphicFramePr>
          <p:cNvPr id="381" name="Google Shape;381;p15"/>
          <p:cNvGraphicFramePr/>
          <p:nvPr/>
        </p:nvGraphicFramePr>
        <p:xfrm>
          <a:off x="284480" y="3749040"/>
          <a:ext cx="3000000" cy="3000000"/>
        </p:xfrm>
        <a:graphic>
          <a:graphicData uri="http://schemas.openxmlformats.org/drawingml/2006/table">
            <a:tbl>
              <a:tblPr firstRow="1" bandRow="1">
                <a:noFill/>
                <a:tableStyleId>{252092A1-413A-49DB-937F-45B02CB74A4B}</a:tableStyleId>
              </a:tblPr>
              <a:tblGrid>
                <a:gridCol w="3312150">
                  <a:extLst>
                    <a:ext uri="{9D8B030D-6E8A-4147-A177-3AD203B41FA5}">
                      <a16:colId xmlns:a16="http://schemas.microsoft.com/office/drawing/2014/main" val="20000"/>
                    </a:ext>
                  </a:extLst>
                </a:gridCol>
                <a:gridCol w="3129275">
                  <a:extLst>
                    <a:ext uri="{9D8B030D-6E8A-4147-A177-3AD203B41FA5}">
                      <a16:colId xmlns:a16="http://schemas.microsoft.com/office/drawing/2014/main" val="20001"/>
                    </a:ext>
                  </a:extLst>
                </a:gridCol>
                <a:gridCol w="2936250">
                  <a:extLst>
                    <a:ext uri="{9D8B030D-6E8A-4147-A177-3AD203B41FA5}">
                      <a16:colId xmlns:a16="http://schemas.microsoft.com/office/drawing/2014/main" val="20002"/>
                    </a:ext>
                  </a:extLst>
                </a:gridCol>
                <a:gridCol w="1666250">
                  <a:extLst>
                    <a:ext uri="{9D8B030D-6E8A-4147-A177-3AD203B41FA5}">
                      <a16:colId xmlns:a16="http://schemas.microsoft.com/office/drawing/2014/main" val="20003"/>
                    </a:ext>
                  </a:extLst>
                </a:gridCol>
              </a:tblGrid>
              <a:tr h="525250">
                <a:tc>
                  <a:txBody>
                    <a:bodyPr/>
                    <a:lstStyle/>
                    <a:p>
                      <a:pPr marL="0" marR="0" lvl="0" indent="0" algn="ctr" rtl="0">
                        <a:spcBef>
                          <a:spcPts val="0"/>
                        </a:spcBef>
                        <a:spcAft>
                          <a:spcPts val="0"/>
                        </a:spcAft>
                        <a:buNone/>
                      </a:pPr>
                      <a:r>
                        <a:rPr lang="pt-BR" sz="1800" u="none" strike="noStrike" cap="none"/>
                        <a:t>Medicamento</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PLOA 2025</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pt-BR" sz="1800" u="none" strike="noStrike" cap="none"/>
                        <a:t>PLOA 2026</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pt-BR" sz="1800" u="none" strike="noStrike" cap="none"/>
                        <a:t>%</a:t>
                      </a:r>
                      <a:endParaRPr/>
                    </a:p>
                  </a:txBody>
                  <a:tcPr marL="91450" marR="91450" marT="45725" marB="45725" anchor="ctr"/>
                </a:tc>
                <a:extLst>
                  <a:ext uri="{0D108BD9-81ED-4DB2-BD59-A6C34878D82A}">
                    <a16:rowId xmlns:a16="http://schemas.microsoft.com/office/drawing/2014/main" val="10000"/>
                  </a:ext>
                </a:extLst>
              </a:tr>
              <a:tr h="525250">
                <a:tc>
                  <a:txBody>
                    <a:bodyPr/>
                    <a:lstStyle/>
                    <a:p>
                      <a:pPr marL="0" marR="0" lvl="0" indent="0" algn="ctr" rtl="0">
                        <a:spcBef>
                          <a:spcPts val="0"/>
                        </a:spcBef>
                        <a:spcAft>
                          <a:spcPts val="0"/>
                        </a:spcAft>
                        <a:buNone/>
                      </a:pPr>
                      <a:r>
                        <a:rPr lang="pt-BR" sz="1800" u="none" strike="noStrike" cap="none"/>
                        <a:t>Eltrombopague olamina 25 mg</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R$ 122.803.385,70</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R$ 162.769.810,25</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solidFill>
                            <a:srgbClr val="365422"/>
                          </a:solidFill>
                        </a:rPr>
                        <a:t>32,54</a:t>
                      </a:r>
                      <a:endParaRPr/>
                    </a:p>
                  </a:txBody>
                  <a:tcPr marL="91450" marR="91450" marT="45725" marB="45725" anchor="ctr"/>
                </a:tc>
                <a:extLst>
                  <a:ext uri="{0D108BD9-81ED-4DB2-BD59-A6C34878D82A}">
                    <a16:rowId xmlns:a16="http://schemas.microsoft.com/office/drawing/2014/main" val="10001"/>
                  </a:ext>
                </a:extLst>
              </a:tr>
              <a:tr h="525250">
                <a:tc>
                  <a:txBody>
                    <a:bodyPr/>
                    <a:lstStyle/>
                    <a:p>
                      <a:pPr marL="0" marR="0" lvl="0" indent="0" algn="ctr" rtl="0">
                        <a:lnSpc>
                          <a:spcPct val="100000"/>
                        </a:lnSpc>
                        <a:spcBef>
                          <a:spcPts val="0"/>
                        </a:spcBef>
                        <a:spcAft>
                          <a:spcPts val="0"/>
                        </a:spcAft>
                        <a:buClr>
                          <a:srgbClr val="000000"/>
                        </a:buClr>
                        <a:buSzPts val="1800"/>
                        <a:buFont typeface="Calibri"/>
                        <a:buNone/>
                      </a:pPr>
                      <a:r>
                        <a:rPr lang="pt-BR" sz="1800" b="0" i="0" u="none" strike="noStrike" cap="none">
                          <a:solidFill>
                            <a:srgbClr val="000000"/>
                          </a:solidFill>
                          <a:latin typeface="Calibri"/>
                          <a:ea typeface="Calibri"/>
                          <a:cs typeface="Calibri"/>
                          <a:sym typeface="Calibri"/>
                        </a:rPr>
                        <a:t>Eltrombopague olamina 50 mg</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R$ 279.424.669,15</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R$ 396.044.575,90</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solidFill>
                            <a:srgbClr val="365422"/>
                          </a:solidFill>
                        </a:rPr>
                        <a:t>41,73</a:t>
                      </a:r>
                      <a:endParaRPr/>
                    </a:p>
                  </a:txBody>
                  <a:tcPr marL="91450" marR="91450" marT="45725" marB="45725" anchor="ctr"/>
                </a:tc>
                <a:extLst>
                  <a:ext uri="{0D108BD9-81ED-4DB2-BD59-A6C34878D82A}">
                    <a16:rowId xmlns:a16="http://schemas.microsoft.com/office/drawing/2014/main" val="10002"/>
                  </a:ext>
                </a:extLst>
              </a:tr>
              <a:tr h="525250">
                <a:tc>
                  <a:txBody>
                    <a:bodyPr/>
                    <a:lstStyle/>
                    <a:p>
                      <a:pPr marL="0" marR="0" lvl="0" indent="0" algn="ctr" rtl="0">
                        <a:spcBef>
                          <a:spcPts val="0"/>
                        </a:spcBef>
                        <a:spcAft>
                          <a:spcPts val="0"/>
                        </a:spcAft>
                        <a:buNone/>
                      </a:pPr>
                      <a:r>
                        <a:rPr lang="pt-BR" sz="1800" u="none" strike="noStrike" cap="none"/>
                        <a:t>Mepolizumabe 100 mg/mL</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R$ 263.514.236,67</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R$ 461.029.480,47</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solidFill>
                            <a:srgbClr val="365422"/>
                          </a:solidFill>
                        </a:rPr>
                        <a:t>74,95</a:t>
                      </a:r>
                      <a:endParaRPr/>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5"/>
        <p:cNvGrpSpPr/>
        <p:nvPr/>
      </p:nvGrpSpPr>
      <p:grpSpPr>
        <a:xfrm>
          <a:off x="0" y="0"/>
          <a:ext cx="0" cy="0"/>
          <a:chOff x="0" y="0"/>
          <a:chExt cx="0" cy="0"/>
        </a:xfrm>
      </p:grpSpPr>
      <p:pic>
        <p:nvPicPr>
          <p:cNvPr id="386" name="Google Shape;386;p16"/>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387" name="Google Shape;387;p16"/>
          <p:cNvSpPr/>
          <p:nvPr/>
        </p:nvSpPr>
        <p:spPr>
          <a:xfrm>
            <a:off x="-1168115" y="1067810"/>
            <a:ext cx="48024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2000" b="1">
                <a:solidFill>
                  <a:srgbClr val="FFFFFF"/>
                </a:solidFill>
                <a:latin typeface="Calibri"/>
                <a:ea typeface="Calibri"/>
                <a:cs typeface="Calibri"/>
                <a:sym typeface="Calibri"/>
              </a:rPr>
              <a:t>MEPOLIZUMABE 100 MG/ML</a:t>
            </a:r>
            <a:endParaRPr sz="2000">
              <a:solidFill>
                <a:srgbClr val="000000"/>
              </a:solidFill>
              <a:latin typeface="Calibri"/>
              <a:ea typeface="Calibri"/>
              <a:cs typeface="Calibri"/>
              <a:sym typeface="Calibri"/>
            </a:endParaRPr>
          </a:p>
        </p:txBody>
      </p:sp>
      <p:sp>
        <p:nvSpPr>
          <p:cNvPr id="388" name="Google Shape;388;p16"/>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9" name="Google Shape;389;p16" descr="Gráfico, Gráfico de linhas&#10;&#10;O conteúdo gerado por IA pode estar incorreto."/>
          <p:cNvPicPr preferRelativeResize="0"/>
          <p:nvPr/>
        </p:nvPicPr>
        <p:blipFill rotWithShape="1">
          <a:blip r:embed="rId5">
            <a:alphaModFix/>
          </a:blip>
          <a:srcRect/>
          <a:stretch/>
        </p:blipFill>
        <p:spPr>
          <a:xfrm>
            <a:off x="3921760" y="105410"/>
            <a:ext cx="7924801" cy="3314700"/>
          </a:xfrm>
          <a:prstGeom prst="rect">
            <a:avLst/>
          </a:prstGeom>
          <a:noFill/>
          <a:ln>
            <a:noFill/>
          </a:ln>
        </p:spPr>
      </p:pic>
      <p:pic>
        <p:nvPicPr>
          <p:cNvPr id="390" name="Google Shape;390;p16" descr="Gráfico, Gráfico de linhas&#10;&#10;O conteúdo gerado por IA pode estar incorreto."/>
          <p:cNvPicPr preferRelativeResize="0"/>
          <p:nvPr/>
        </p:nvPicPr>
        <p:blipFill rotWithShape="1">
          <a:blip r:embed="rId6">
            <a:alphaModFix/>
          </a:blip>
          <a:srcRect/>
          <a:stretch/>
        </p:blipFill>
        <p:spPr>
          <a:xfrm>
            <a:off x="3926523" y="3431540"/>
            <a:ext cx="7915275" cy="3429000"/>
          </a:xfrm>
          <a:prstGeom prst="rect">
            <a:avLst/>
          </a:prstGeom>
          <a:noFill/>
          <a:ln>
            <a:noFill/>
          </a:ln>
        </p:spPr>
      </p:pic>
      <p:sp>
        <p:nvSpPr>
          <p:cNvPr id="391" name="Google Shape;391;p16"/>
          <p:cNvSpPr txBox="1"/>
          <p:nvPr/>
        </p:nvSpPr>
        <p:spPr>
          <a:xfrm>
            <a:off x="136298" y="4580051"/>
            <a:ext cx="3462000" cy="1631100"/>
          </a:xfrm>
          <a:prstGeom prst="rect">
            <a:avLst/>
          </a:prstGeom>
          <a:noFill/>
          <a:ln>
            <a:noFill/>
          </a:ln>
        </p:spPr>
        <p:txBody>
          <a:bodyPr spcFirstLastPara="1" wrap="square" lIns="91425" tIns="45700" rIns="91425" bIns="45700" anchor="t" anchorCtr="0">
            <a:spAutoFit/>
          </a:bodyPr>
          <a:lstStyle/>
          <a:p>
            <a:pPr marL="342900" marR="0" lvl="0" indent="-342900" algn="ctr" rtl="0">
              <a:spcBef>
                <a:spcPts val="0"/>
              </a:spcBef>
              <a:spcAft>
                <a:spcPts val="0"/>
              </a:spcAft>
              <a:buClr>
                <a:srgbClr val="FFFFFF"/>
              </a:buClr>
              <a:buSzPts val="2000"/>
              <a:buFont typeface="Arial"/>
              <a:buChar char="•"/>
            </a:pPr>
            <a:r>
              <a:rPr lang="pt-BR" sz="2000" b="1">
                <a:solidFill>
                  <a:srgbClr val="FFFFFF"/>
                </a:solidFill>
                <a:latin typeface="Open Sans"/>
                <a:ea typeface="Open Sans"/>
                <a:cs typeface="Open Sans"/>
                <a:sym typeface="Open Sans"/>
              </a:rPr>
              <a:t>Previsão Linear</a:t>
            </a:r>
            <a:r>
              <a:rPr lang="pt-BR" sz="2000">
                <a:solidFill>
                  <a:srgbClr val="FFFFFF"/>
                </a:solidFill>
                <a:latin typeface="Open Sans"/>
                <a:ea typeface="Open Sans"/>
                <a:cs typeface="Open Sans"/>
                <a:sym typeface="Open Sans"/>
              </a:rPr>
              <a:t> – série histórica + </a:t>
            </a:r>
            <a:r>
              <a:rPr lang="pt-BR" sz="2000" b="1">
                <a:solidFill>
                  <a:srgbClr val="FFFFFF"/>
                </a:solidFill>
                <a:latin typeface="Open Sans"/>
                <a:ea typeface="Open Sans"/>
                <a:cs typeface="Open Sans"/>
                <a:sym typeface="Open Sans"/>
              </a:rPr>
              <a:t>Memória de cálculo</a:t>
            </a:r>
            <a:r>
              <a:rPr lang="pt-BR" sz="2000">
                <a:solidFill>
                  <a:srgbClr val="FFFFFF"/>
                </a:solidFill>
                <a:latin typeface="Open Sans"/>
                <a:ea typeface="Open Sans"/>
                <a:cs typeface="Open Sans"/>
                <a:sym typeface="Open Sans"/>
              </a:rPr>
              <a:t> de ampliação de uso Portaria SECTICS/MS nº 22/2024</a:t>
            </a:r>
            <a:endParaRPr/>
          </a:p>
        </p:txBody>
      </p:sp>
      <p:sp>
        <p:nvSpPr>
          <p:cNvPr id="392" name="Google Shape;392;p16"/>
          <p:cNvSpPr txBox="1"/>
          <p:nvPr/>
        </p:nvSpPr>
        <p:spPr>
          <a:xfrm>
            <a:off x="494018" y="2310047"/>
            <a:ext cx="3138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a:solidFill>
                  <a:srgbClr val="FFFFFF"/>
                </a:solidFill>
                <a:latin typeface="Open Sans"/>
                <a:ea typeface="Open Sans"/>
                <a:cs typeface="Open Sans"/>
                <a:sym typeface="Open Sans"/>
              </a:rPr>
              <a:t>Dados APAC - unidades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6"/>
        <p:cNvGrpSpPr/>
        <p:nvPr/>
      </p:nvGrpSpPr>
      <p:grpSpPr>
        <a:xfrm>
          <a:off x="0" y="0"/>
          <a:ext cx="0" cy="0"/>
          <a:chOff x="0" y="0"/>
          <a:chExt cx="0" cy="0"/>
        </a:xfrm>
      </p:grpSpPr>
      <p:pic>
        <p:nvPicPr>
          <p:cNvPr id="397" name="Google Shape;397;p17"/>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398" name="Google Shape;398;p17"/>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9" name="Google Shape;399;p17" descr="Gráfico, Gráfico de linhas&#10;&#10;O conteúdo gerado por IA pode estar incorreto."/>
          <p:cNvPicPr preferRelativeResize="0"/>
          <p:nvPr/>
        </p:nvPicPr>
        <p:blipFill rotWithShape="1">
          <a:blip r:embed="rId5">
            <a:alphaModFix/>
          </a:blip>
          <a:srcRect/>
          <a:stretch/>
        </p:blipFill>
        <p:spPr>
          <a:xfrm>
            <a:off x="0" y="1054260"/>
            <a:ext cx="7614303" cy="4993674"/>
          </a:xfrm>
          <a:prstGeom prst="rect">
            <a:avLst/>
          </a:prstGeom>
          <a:noFill/>
          <a:ln>
            <a:noFill/>
          </a:ln>
        </p:spPr>
      </p:pic>
      <p:sp>
        <p:nvSpPr>
          <p:cNvPr id="400" name="Google Shape;400;p17"/>
          <p:cNvSpPr txBox="1"/>
          <p:nvPr/>
        </p:nvSpPr>
        <p:spPr>
          <a:xfrm>
            <a:off x="3649033" y="3910972"/>
            <a:ext cx="8025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400" b="1">
                <a:solidFill>
                  <a:srgbClr val="FF0000"/>
                </a:solidFill>
                <a:latin typeface="Calibri"/>
                <a:ea typeface="Calibri"/>
                <a:cs typeface="Calibri"/>
                <a:sym typeface="Calibri"/>
              </a:rPr>
              <a:t>37%</a:t>
            </a:r>
            <a:endParaRPr/>
          </a:p>
        </p:txBody>
      </p:sp>
      <p:sp>
        <p:nvSpPr>
          <p:cNvPr id="401" name="Google Shape;401;p17"/>
          <p:cNvSpPr txBox="1"/>
          <p:nvPr/>
        </p:nvSpPr>
        <p:spPr>
          <a:xfrm>
            <a:off x="5688202" y="3243320"/>
            <a:ext cx="8025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400" b="1">
                <a:solidFill>
                  <a:srgbClr val="FF0000"/>
                </a:solidFill>
                <a:latin typeface="Calibri"/>
                <a:ea typeface="Calibri"/>
                <a:cs typeface="Calibri"/>
                <a:sym typeface="Calibri"/>
              </a:rPr>
              <a:t>23%</a:t>
            </a:r>
            <a:endParaRPr/>
          </a:p>
        </p:txBody>
      </p:sp>
      <p:sp>
        <p:nvSpPr>
          <p:cNvPr id="402" name="Google Shape;402;p17"/>
          <p:cNvSpPr/>
          <p:nvPr/>
        </p:nvSpPr>
        <p:spPr>
          <a:xfrm rot="-1680260">
            <a:off x="3350469" y="3975945"/>
            <a:ext cx="1201818" cy="316059"/>
          </a:xfrm>
          <a:prstGeom prst="curvedUpArrow">
            <a:avLst>
              <a:gd name="adj1" fmla="val 25000"/>
              <a:gd name="adj2" fmla="val 50000"/>
              <a:gd name="adj3" fmla="val 2500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17"/>
          <p:cNvSpPr/>
          <p:nvPr/>
        </p:nvSpPr>
        <p:spPr>
          <a:xfrm rot="-1680260">
            <a:off x="5400696" y="3331278"/>
            <a:ext cx="1201818" cy="316059"/>
          </a:xfrm>
          <a:prstGeom prst="curvedUpArrow">
            <a:avLst>
              <a:gd name="adj1" fmla="val 25000"/>
              <a:gd name="adj2" fmla="val 50000"/>
              <a:gd name="adj3" fmla="val 25000"/>
            </a:avLst>
          </a:prstGeom>
          <a:solidFill>
            <a:srgbClr val="FF00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17"/>
          <p:cNvSpPr/>
          <p:nvPr/>
        </p:nvSpPr>
        <p:spPr>
          <a:xfrm>
            <a:off x="-1147795" y="133090"/>
            <a:ext cx="71493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Projeções anuais PLOA Grupo 1B </a:t>
            </a:r>
            <a:endParaRPr sz="2400">
              <a:solidFill>
                <a:schemeClr val="lt1"/>
              </a:solidFill>
              <a:latin typeface="Calibri"/>
              <a:ea typeface="Calibri"/>
              <a:cs typeface="Calibri"/>
              <a:sym typeface="Calibri"/>
            </a:endParaRPr>
          </a:p>
        </p:txBody>
      </p:sp>
      <p:pic>
        <p:nvPicPr>
          <p:cNvPr id="405" name="Google Shape;405;p17"/>
          <p:cNvPicPr preferRelativeResize="0"/>
          <p:nvPr/>
        </p:nvPicPr>
        <p:blipFill rotWithShape="1">
          <a:blip r:embed="rId6">
            <a:alphaModFix/>
          </a:blip>
          <a:srcRect l="685"/>
          <a:stretch/>
        </p:blipFill>
        <p:spPr>
          <a:xfrm>
            <a:off x="6805205" y="4749527"/>
            <a:ext cx="5272324" cy="17880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9"/>
        <p:cNvGrpSpPr/>
        <p:nvPr/>
      </p:nvGrpSpPr>
      <p:grpSpPr>
        <a:xfrm>
          <a:off x="0" y="0"/>
          <a:ext cx="0" cy="0"/>
          <a:chOff x="0" y="0"/>
          <a:chExt cx="0" cy="0"/>
        </a:xfrm>
      </p:grpSpPr>
      <p:pic>
        <p:nvPicPr>
          <p:cNvPr id="410" name="Google Shape;410;p18"/>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11" name="Google Shape;411;p18"/>
          <p:cNvSpPr/>
          <p:nvPr/>
        </p:nvSpPr>
        <p:spPr>
          <a:xfrm>
            <a:off x="-1183182" y="329635"/>
            <a:ext cx="92250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Medicamentos incorporados/ ampliados 1B</a:t>
            </a:r>
            <a:endParaRPr/>
          </a:p>
        </p:txBody>
      </p:sp>
      <p:graphicFrame>
        <p:nvGraphicFramePr>
          <p:cNvPr id="412" name="Google Shape;412;p18"/>
          <p:cNvGraphicFramePr/>
          <p:nvPr/>
        </p:nvGraphicFramePr>
        <p:xfrm>
          <a:off x="673382" y="1108313"/>
          <a:ext cx="3000000" cy="3000000"/>
        </p:xfrm>
        <a:graphic>
          <a:graphicData uri="http://schemas.openxmlformats.org/drawingml/2006/table">
            <a:tbl>
              <a:tblPr bandRow="1">
                <a:noFill/>
                <a:tableStyleId>{252092A1-413A-49DB-937F-45B02CB74A4B}</a:tableStyleId>
              </a:tblPr>
              <a:tblGrid>
                <a:gridCol w="3073400">
                  <a:extLst>
                    <a:ext uri="{9D8B030D-6E8A-4147-A177-3AD203B41FA5}">
                      <a16:colId xmlns:a16="http://schemas.microsoft.com/office/drawing/2014/main" val="20000"/>
                    </a:ext>
                  </a:extLst>
                </a:gridCol>
                <a:gridCol w="2607725">
                  <a:extLst>
                    <a:ext uri="{9D8B030D-6E8A-4147-A177-3AD203B41FA5}">
                      <a16:colId xmlns:a16="http://schemas.microsoft.com/office/drawing/2014/main" val="20001"/>
                    </a:ext>
                  </a:extLst>
                </a:gridCol>
                <a:gridCol w="2017925">
                  <a:extLst>
                    <a:ext uri="{9D8B030D-6E8A-4147-A177-3AD203B41FA5}">
                      <a16:colId xmlns:a16="http://schemas.microsoft.com/office/drawing/2014/main" val="20002"/>
                    </a:ext>
                  </a:extLst>
                </a:gridCol>
                <a:gridCol w="1539800">
                  <a:extLst>
                    <a:ext uri="{9D8B030D-6E8A-4147-A177-3AD203B41FA5}">
                      <a16:colId xmlns:a16="http://schemas.microsoft.com/office/drawing/2014/main" val="20003"/>
                    </a:ext>
                  </a:extLst>
                </a:gridCol>
                <a:gridCol w="1449225">
                  <a:extLst>
                    <a:ext uri="{9D8B030D-6E8A-4147-A177-3AD203B41FA5}">
                      <a16:colId xmlns:a16="http://schemas.microsoft.com/office/drawing/2014/main" val="20004"/>
                    </a:ext>
                  </a:extLst>
                </a:gridCol>
              </a:tblGrid>
              <a:tr h="248325">
                <a:tc>
                  <a:txBody>
                    <a:bodyPr/>
                    <a:lstStyle/>
                    <a:p>
                      <a:pPr marL="0" marR="0" lvl="0" indent="0" algn="ctr" rtl="0">
                        <a:spcBef>
                          <a:spcPts val="0"/>
                        </a:spcBef>
                        <a:spcAft>
                          <a:spcPts val="0"/>
                        </a:spcAft>
                        <a:buClr>
                          <a:schemeClr val="lt1"/>
                        </a:buClr>
                        <a:buSzPts val="1400"/>
                        <a:buFont typeface="Calibri"/>
                        <a:buNone/>
                      </a:pPr>
                      <a:r>
                        <a:rPr lang="pt-BR" sz="1400" b="1" i="0" u="none" strike="noStrike" cap="none">
                          <a:solidFill>
                            <a:schemeClr val="lt1"/>
                          </a:solidFill>
                          <a:latin typeface="Calibri"/>
                          <a:ea typeface="Calibri"/>
                          <a:cs typeface="Calibri"/>
                          <a:sym typeface="Calibri"/>
                        </a:rPr>
                        <a:t>2021</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546A"/>
                    </a:solidFill>
                  </a:tcPr>
                </a:tc>
                <a:tc>
                  <a:txBody>
                    <a:bodyPr/>
                    <a:lstStyle/>
                    <a:p>
                      <a:pPr marL="0" marR="0" lvl="0" indent="0" algn="ctr" rtl="0">
                        <a:spcBef>
                          <a:spcPts val="0"/>
                        </a:spcBef>
                        <a:spcAft>
                          <a:spcPts val="0"/>
                        </a:spcAft>
                        <a:buClr>
                          <a:schemeClr val="lt1"/>
                        </a:buClr>
                        <a:buSzPts val="1400"/>
                        <a:buFont typeface="Calibri"/>
                        <a:buNone/>
                      </a:pPr>
                      <a:r>
                        <a:rPr lang="pt-BR" sz="1400" b="1" i="0" u="none" strike="noStrike" cap="none">
                          <a:solidFill>
                            <a:schemeClr val="lt1"/>
                          </a:solidFill>
                          <a:latin typeface="Calibri"/>
                          <a:ea typeface="Calibri"/>
                          <a:cs typeface="Calibri"/>
                          <a:sym typeface="Calibri"/>
                        </a:rPr>
                        <a:t>2022</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546A"/>
                    </a:solidFill>
                  </a:tcPr>
                </a:tc>
                <a:tc>
                  <a:txBody>
                    <a:bodyPr/>
                    <a:lstStyle/>
                    <a:p>
                      <a:pPr marL="0" marR="0" lvl="0" indent="0" algn="ctr" rtl="0">
                        <a:spcBef>
                          <a:spcPts val="0"/>
                        </a:spcBef>
                        <a:spcAft>
                          <a:spcPts val="0"/>
                        </a:spcAft>
                        <a:buClr>
                          <a:schemeClr val="lt1"/>
                        </a:buClr>
                        <a:buSzPts val="1400"/>
                        <a:buFont typeface="Calibri"/>
                        <a:buNone/>
                      </a:pPr>
                      <a:r>
                        <a:rPr lang="pt-BR" sz="1400" b="1" i="0" u="none" strike="noStrike" cap="none">
                          <a:solidFill>
                            <a:schemeClr val="lt1"/>
                          </a:solidFill>
                          <a:latin typeface="Calibri"/>
                          <a:ea typeface="Calibri"/>
                          <a:cs typeface="Calibri"/>
                          <a:sym typeface="Calibri"/>
                        </a:rPr>
                        <a:t>2023</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546A"/>
                    </a:solidFill>
                  </a:tcPr>
                </a:tc>
                <a:tc>
                  <a:txBody>
                    <a:bodyPr/>
                    <a:lstStyle/>
                    <a:p>
                      <a:pPr marL="0" marR="0" lvl="0" indent="0" algn="ctr" rtl="0">
                        <a:spcBef>
                          <a:spcPts val="0"/>
                        </a:spcBef>
                        <a:spcAft>
                          <a:spcPts val="0"/>
                        </a:spcAft>
                        <a:buClr>
                          <a:schemeClr val="lt1"/>
                        </a:buClr>
                        <a:buSzPts val="1400"/>
                        <a:buFont typeface="Calibri"/>
                        <a:buNone/>
                      </a:pPr>
                      <a:r>
                        <a:rPr lang="pt-BR" sz="1400" b="1" i="0" u="none" strike="noStrike" cap="none">
                          <a:solidFill>
                            <a:schemeClr val="lt1"/>
                          </a:solidFill>
                          <a:latin typeface="Calibri"/>
                          <a:ea typeface="Calibri"/>
                          <a:cs typeface="Calibri"/>
                          <a:sym typeface="Calibri"/>
                        </a:rPr>
                        <a:t>2024</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546A"/>
                    </a:solidFill>
                  </a:tcPr>
                </a:tc>
                <a:tc>
                  <a:txBody>
                    <a:bodyPr/>
                    <a:lstStyle/>
                    <a:p>
                      <a:pPr marL="0" marR="0" lvl="0" indent="0" algn="ctr" rtl="0">
                        <a:spcBef>
                          <a:spcPts val="0"/>
                        </a:spcBef>
                        <a:spcAft>
                          <a:spcPts val="0"/>
                        </a:spcAft>
                        <a:buClr>
                          <a:schemeClr val="lt1"/>
                        </a:buClr>
                        <a:buSzPts val="1400"/>
                        <a:buFont typeface="Calibri"/>
                        <a:buNone/>
                      </a:pPr>
                      <a:r>
                        <a:rPr lang="pt-BR" sz="1400" b="1" i="0" u="none" strike="noStrike" cap="none">
                          <a:solidFill>
                            <a:schemeClr val="lt1"/>
                          </a:solidFill>
                          <a:latin typeface="Calibri"/>
                          <a:ea typeface="Calibri"/>
                          <a:cs typeface="Calibri"/>
                          <a:sym typeface="Calibri"/>
                        </a:rPr>
                        <a:t>2025</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546A"/>
                    </a:solidFill>
                  </a:tcPr>
                </a:tc>
                <a:extLst>
                  <a:ext uri="{0D108BD9-81ED-4DB2-BD59-A6C34878D82A}">
                    <a16:rowId xmlns:a16="http://schemas.microsoft.com/office/drawing/2014/main" val="10000"/>
                  </a:ext>
                </a:extLst>
              </a:tr>
              <a:tr h="605375">
                <a:tc>
                  <a:txBody>
                    <a:bodyPr/>
                    <a:lstStyle/>
                    <a:p>
                      <a:pPr marL="0" marR="0" lvl="0" indent="0" algn="ctr" rtl="0">
                        <a:spcBef>
                          <a:spcPts val="0"/>
                        </a:spcBef>
                        <a:spcAft>
                          <a:spcPts val="0"/>
                        </a:spcAft>
                        <a:buClr>
                          <a:schemeClr val="lt1"/>
                        </a:buClr>
                        <a:buSzPts val="1200"/>
                        <a:buFont typeface="Calibri"/>
                        <a:buNone/>
                      </a:pPr>
                      <a:r>
                        <a:rPr lang="pt-BR" sz="1200" b="1" i="0" u="none" strike="noStrike" cap="none">
                          <a:solidFill>
                            <a:schemeClr val="lt1"/>
                          </a:solidFill>
                          <a:latin typeface="Calibri"/>
                          <a:ea typeface="Calibri"/>
                          <a:cs typeface="Calibri"/>
                          <a:sym typeface="Calibri"/>
                        </a:rPr>
                        <a:t>OMALIZUMABE 150MG</a:t>
                      </a:r>
                      <a:br>
                        <a:rPr lang="pt-BR" sz="1200" b="1" i="0" u="none" strike="noStrike" cap="none">
                          <a:solidFill>
                            <a:schemeClr val="lt1"/>
                          </a:solidFill>
                          <a:latin typeface="Calibri"/>
                          <a:ea typeface="Calibri"/>
                          <a:cs typeface="Calibri"/>
                          <a:sym typeface="Calibri"/>
                        </a:rPr>
                      </a:br>
                      <a:endParaRPr sz="1200" b="1" i="0" u="none" strike="noStrike" cap="none">
                        <a:solidFill>
                          <a:schemeClr val="lt1"/>
                        </a:solidFill>
                        <a:latin typeface="Calibri"/>
                        <a:ea typeface="Calibri"/>
                        <a:cs typeface="Calibri"/>
                        <a:sym typeface="Calibri"/>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200"/>
                        <a:buFont typeface="Calibri"/>
                        <a:buNone/>
                      </a:pPr>
                      <a:r>
                        <a:rPr lang="pt-BR" sz="1200" b="1" i="0" u="none" strike="noStrike" cap="none">
                          <a:solidFill>
                            <a:schemeClr val="lt1"/>
                          </a:solidFill>
                          <a:latin typeface="Calibri"/>
                          <a:ea typeface="Calibri"/>
                          <a:cs typeface="Calibri"/>
                          <a:sym typeface="Calibri"/>
                        </a:rPr>
                        <a:t>TRIPTORRELINA 22,5 MG</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200"/>
                        <a:buFont typeface="Calibri"/>
                        <a:buNone/>
                      </a:pPr>
                      <a:r>
                        <a:rPr lang="pt-BR" sz="1200" b="1" i="0" u="none" strike="noStrike" cap="none">
                          <a:solidFill>
                            <a:schemeClr val="lt1"/>
                          </a:solidFill>
                          <a:latin typeface="Calibri"/>
                          <a:ea typeface="Calibri"/>
                          <a:cs typeface="Calibri"/>
                          <a:sym typeface="Calibri"/>
                        </a:rPr>
                        <a:t>DESFERROXAMINA 500 MG </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200"/>
                        <a:buFont typeface="Calibri"/>
                        <a:buNone/>
                      </a:pPr>
                      <a:r>
                        <a:rPr lang="pt-BR" sz="1200" b="1" i="0" u="none" strike="noStrike" cap="none">
                          <a:solidFill>
                            <a:schemeClr val="lt1"/>
                          </a:solidFill>
                          <a:latin typeface="Calibri"/>
                          <a:ea typeface="Calibri"/>
                          <a:cs typeface="Calibri"/>
                          <a:sym typeface="Calibri"/>
                        </a:rPr>
                        <a:t>PENICILAMINA 250 MG</a:t>
                      </a:r>
                      <a:br>
                        <a:rPr lang="pt-BR" sz="1200" b="1" i="0" u="none" strike="noStrike" cap="none">
                          <a:solidFill>
                            <a:schemeClr val="lt1"/>
                          </a:solidFill>
                          <a:latin typeface="Calibri"/>
                          <a:ea typeface="Calibri"/>
                          <a:cs typeface="Calibri"/>
                          <a:sym typeface="Calibri"/>
                        </a:rPr>
                      </a:br>
                      <a:r>
                        <a:rPr lang="pt-BR" sz="1200" b="1" i="0" u="none" strike="noStrike" cap="none">
                          <a:solidFill>
                            <a:schemeClr val="lt1"/>
                          </a:solidFill>
                          <a:latin typeface="Calibri"/>
                          <a:ea typeface="Calibri"/>
                          <a:cs typeface="Calibri"/>
                          <a:sym typeface="Calibri"/>
                        </a:rPr>
                        <a:t>(alteração de preço)</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200"/>
                        <a:buFont typeface="Calibri"/>
                        <a:buNone/>
                      </a:pPr>
                      <a:r>
                        <a:rPr lang="pt-BR" sz="1200" b="1" i="0" u="none" strike="noStrike" cap="none">
                          <a:solidFill>
                            <a:schemeClr val="lt1"/>
                          </a:solidFill>
                          <a:latin typeface="Calibri"/>
                          <a:ea typeface="Calibri"/>
                          <a:cs typeface="Calibri"/>
                          <a:sym typeface="Calibri"/>
                        </a:rPr>
                        <a:t>HIDROXIUREIA 100 MG</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86525">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SACUBITRIL VALSARTANA SÓDICA HIDRATADA 50 MG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SACUBITRIL VALSARTANA SÓDICA HIDRATADA 100 MG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SACUBITRIL VALSARTANA SÓDICA HIDRATADA 200 MG</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LEUPRORRELINA 45 MG</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ELTROMBOPAGUE OLAMINA 25 MG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ELTROMBOPAGUE OLAMINA 50 MG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IMUNOGLOBULINA HUMANA 0,5 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IMUNOGLOBULINA HUMANA 1,0 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IMUNOGLOBULINA HUMANA 2,5 G </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HIDROXIUREIA 500 MG </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812700">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 INSULINA ANÁLOGA DE AÇÃO RÁPIDA 100 UI/ML (CRIANÇAS MENORES DE 4 ANOS E GRÁVIDAS)</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MEPOLIZUMABE 100 MG/ML SOLUÇÃO INJETÁVEL</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BROMETO DE UMECLIDÍNIO 62,5 MCG + TRIFENATATO DE VILANTEROL 25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BROMETO DE TIOTRÓPIO MONOIDRATADO 2,5 MCG + CLORIDRATO DE OLODATEROL 2,5 MCG</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SELEXIPAGUE 200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SELEXIPAGUE 400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SELEXIPAGUE 600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SELEXIPAGUE 800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ELEXIPAGUE 1000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SELEXIPAGUE 1200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SELEXIPAGUE 1400 MCG</a:t>
                      </a:r>
                      <a:br>
                        <a:rPr lang="pt-BR" sz="1000" b="1" i="0" u="none" strike="noStrike" cap="none">
                          <a:solidFill>
                            <a:schemeClr val="lt1"/>
                          </a:solidFill>
                          <a:latin typeface="Calibri"/>
                          <a:ea typeface="Calibri"/>
                          <a:cs typeface="Calibri"/>
                          <a:sym typeface="Calibri"/>
                        </a:rPr>
                      </a:br>
                      <a:r>
                        <a:rPr lang="pt-BR" sz="1000" b="1" i="0" u="none" strike="noStrike" cap="none">
                          <a:solidFill>
                            <a:schemeClr val="lt1"/>
                          </a:solidFill>
                          <a:latin typeface="Calibri"/>
                          <a:ea typeface="Calibri"/>
                          <a:cs typeface="Calibri"/>
                          <a:sym typeface="Calibri"/>
                        </a:rPr>
                        <a:t> SELEXIPAGUE 1600 MCG </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chemeClr val="lt1"/>
                        </a:buClr>
                        <a:buSzPts val="1000"/>
                        <a:buFont typeface="Calibri"/>
                        <a:buNone/>
                      </a:pPr>
                      <a:r>
                        <a:rPr lang="pt-BR" sz="1000" b="1" i="0" u="none" strike="noStrike" cap="none">
                          <a:solidFill>
                            <a:schemeClr val="lt1"/>
                          </a:solidFill>
                          <a:latin typeface="Calibri"/>
                          <a:ea typeface="Calibri"/>
                          <a:cs typeface="Calibri"/>
                          <a:sym typeface="Calibri"/>
                        </a:rPr>
                        <a:t>-</a:t>
                      </a:r>
                      <a:endParaRPr/>
                    </a:p>
                  </a:txBody>
                  <a:tcPr marL="9525" marR="9525" marT="9525" marB="457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13" name="Google Shape;413;p18"/>
          <p:cNvSpPr txBox="1"/>
          <p:nvPr/>
        </p:nvSpPr>
        <p:spPr>
          <a:xfrm>
            <a:off x="673382" y="5908217"/>
            <a:ext cx="106881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a:solidFill>
                  <a:schemeClr val="lt1"/>
                </a:solidFill>
                <a:latin typeface="Calibri"/>
                <a:ea typeface="Calibri"/>
                <a:cs typeface="Calibri"/>
                <a:sym typeface="Calibri"/>
              </a:rPr>
              <a:t>O impacto de faturamento dos itens incorporados depende de processos aquisitivos dos estados, desta forma de maneira geral esse impacto pode atingir patamares mais representativos depois de meses da incorporação (um processo aquisitivo pode durar cerca de 12 meses)</a:t>
            </a:r>
            <a:endParaRPr sz="16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7"/>
        <p:cNvGrpSpPr/>
        <p:nvPr/>
      </p:nvGrpSpPr>
      <p:grpSpPr>
        <a:xfrm>
          <a:off x="0" y="0"/>
          <a:ext cx="0" cy="0"/>
          <a:chOff x="0" y="0"/>
          <a:chExt cx="0" cy="0"/>
        </a:xfrm>
      </p:grpSpPr>
      <p:pic>
        <p:nvPicPr>
          <p:cNvPr id="418" name="Google Shape;418;p19"/>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19" name="Google Shape;419;p19"/>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19"/>
          <p:cNvSpPr/>
          <p:nvPr/>
        </p:nvSpPr>
        <p:spPr>
          <a:xfrm>
            <a:off x="-1147794" y="133090"/>
            <a:ext cx="57039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Análise 1B: 2020 - 2025</a:t>
            </a:r>
            <a:endParaRPr/>
          </a:p>
        </p:txBody>
      </p:sp>
      <p:pic>
        <p:nvPicPr>
          <p:cNvPr id="421" name="Google Shape;421;p19"/>
          <p:cNvPicPr preferRelativeResize="0"/>
          <p:nvPr/>
        </p:nvPicPr>
        <p:blipFill rotWithShape="1">
          <a:blip r:embed="rId5">
            <a:alphaModFix/>
          </a:blip>
          <a:srcRect/>
          <a:stretch/>
        </p:blipFill>
        <p:spPr>
          <a:xfrm>
            <a:off x="0" y="1866203"/>
            <a:ext cx="9859752" cy="4991797"/>
          </a:xfrm>
          <a:prstGeom prst="rect">
            <a:avLst/>
          </a:prstGeom>
          <a:noFill/>
          <a:ln>
            <a:noFill/>
          </a:ln>
        </p:spPr>
      </p:pic>
      <p:sp>
        <p:nvSpPr>
          <p:cNvPr id="422" name="Google Shape;422;p19"/>
          <p:cNvSpPr txBox="1"/>
          <p:nvPr/>
        </p:nvSpPr>
        <p:spPr>
          <a:xfrm>
            <a:off x="9859751" y="2539592"/>
            <a:ext cx="2305500" cy="2554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600">
                <a:solidFill>
                  <a:schemeClr val="lt1"/>
                </a:solidFill>
                <a:latin typeface="Calibri"/>
                <a:ea typeface="Calibri"/>
                <a:cs typeface="Calibri"/>
                <a:sym typeface="Calibri"/>
              </a:rPr>
              <a:t>Em 2024, o valor de medicamentos </a:t>
            </a:r>
            <a:r>
              <a:rPr lang="pt-BR" sz="1600" b="1">
                <a:solidFill>
                  <a:schemeClr val="lt1"/>
                </a:solidFill>
                <a:latin typeface="Calibri"/>
                <a:ea typeface="Calibri"/>
                <a:cs typeface="Calibri"/>
                <a:sym typeface="Calibri"/>
              </a:rPr>
              <a:t>incorporados/ampliados ultrapassou o crescimento vegetativo.</a:t>
            </a:r>
            <a:endParaRPr sz="1800">
              <a:solidFill>
                <a:schemeClr val="lt1"/>
              </a:solidFill>
              <a:latin typeface="Calibri"/>
              <a:ea typeface="Calibri"/>
              <a:cs typeface="Calibri"/>
              <a:sym typeface="Calibri"/>
            </a:endParaRPr>
          </a:p>
          <a:p>
            <a:pPr marL="0" marR="0" lvl="0" indent="0" algn="ctr" rtl="0">
              <a:spcBef>
                <a:spcPts val="0"/>
              </a:spcBef>
              <a:spcAft>
                <a:spcPts val="0"/>
              </a:spcAft>
              <a:buNone/>
            </a:pPr>
            <a:endParaRPr sz="1600">
              <a:solidFill>
                <a:schemeClr val="lt1"/>
              </a:solidFill>
              <a:latin typeface="Calibri"/>
              <a:ea typeface="Calibri"/>
              <a:cs typeface="Calibri"/>
              <a:sym typeface="Calibri"/>
            </a:endParaRPr>
          </a:p>
          <a:p>
            <a:pPr marL="0" marR="0" lvl="0" indent="0" algn="ctr" rtl="0">
              <a:spcBef>
                <a:spcPts val="0"/>
              </a:spcBef>
              <a:spcAft>
                <a:spcPts val="0"/>
              </a:spcAft>
              <a:buNone/>
            </a:pPr>
            <a:r>
              <a:rPr lang="pt-BR" sz="1600">
                <a:solidFill>
                  <a:schemeClr val="lt1"/>
                </a:solidFill>
                <a:latin typeface="Calibri"/>
                <a:ea typeface="Calibri"/>
                <a:cs typeface="Calibri"/>
                <a:sym typeface="Calibri"/>
              </a:rPr>
              <a:t>Em 2025, com 4 meses de apuração, novos medicamentos já ultrapassam.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26"/>
        <p:cNvGrpSpPr/>
        <p:nvPr/>
      </p:nvGrpSpPr>
      <p:grpSpPr>
        <a:xfrm>
          <a:off x="0" y="0"/>
          <a:ext cx="0" cy="0"/>
          <a:chOff x="0" y="0"/>
          <a:chExt cx="0" cy="0"/>
        </a:xfrm>
      </p:grpSpPr>
      <p:pic>
        <p:nvPicPr>
          <p:cNvPr id="427" name="Google Shape;427;p20"/>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28" name="Google Shape;428;p20"/>
          <p:cNvSpPr/>
          <p:nvPr/>
        </p:nvSpPr>
        <p:spPr>
          <a:xfrm>
            <a:off x="-1525923" y="5447525"/>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20"/>
          <p:cNvSpPr/>
          <p:nvPr/>
        </p:nvSpPr>
        <p:spPr>
          <a:xfrm>
            <a:off x="-1147794" y="133090"/>
            <a:ext cx="57039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Análise 1B: 2020 - 2025</a:t>
            </a:r>
            <a:endParaRPr/>
          </a:p>
        </p:txBody>
      </p:sp>
      <p:pic>
        <p:nvPicPr>
          <p:cNvPr id="430" name="Google Shape;430;p20"/>
          <p:cNvPicPr preferRelativeResize="0"/>
          <p:nvPr/>
        </p:nvPicPr>
        <p:blipFill rotWithShape="1">
          <a:blip r:embed="rId5">
            <a:alphaModFix/>
          </a:blip>
          <a:srcRect/>
          <a:stretch/>
        </p:blipFill>
        <p:spPr>
          <a:xfrm>
            <a:off x="0" y="1177834"/>
            <a:ext cx="7884367" cy="3259555"/>
          </a:xfrm>
          <a:prstGeom prst="rect">
            <a:avLst/>
          </a:prstGeom>
          <a:noFill/>
          <a:ln>
            <a:noFill/>
          </a:ln>
        </p:spPr>
      </p:pic>
      <p:pic>
        <p:nvPicPr>
          <p:cNvPr id="431" name="Google Shape;431;p20"/>
          <p:cNvPicPr preferRelativeResize="0"/>
          <p:nvPr/>
        </p:nvPicPr>
        <p:blipFill rotWithShape="1">
          <a:blip r:embed="rId6">
            <a:alphaModFix/>
          </a:blip>
          <a:srcRect/>
          <a:stretch/>
        </p:blipFill>
        <p:spPr>
          <a:xfrm>
            <a:off x="7466580" y="4538391"/>
            <a:ext cx="4725420" cy="2319609"/>
          </a:xfrm>
          <a:prstGeom prst="rect">
            <a:avLst/>
          </a:prstGeom>
          <a:noFill/>
          <a:ln>
            <a:noFill/>
          </a:ln>
        </p:spPr>
      </p:pic>
      <p:sp>
        <p:nvSpPr>
          <p:cNvPr id="432" name="Google Shape;432;p20"/>
          <p:cNvSpPr txBox="1"/>
          <p:nvPr/>
        </p:nvSpPr>
        <p:spPr>
          <a:xfrm>
            <a:off x="8412752" y="1512090"/>
            <a:ext cx="2833200" cy="2308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600">
                <a:solidFill>
                  <a:schemeClr val="lt1"/>
                </a:solidFill>
                <a:latin typeface="Open Sans"/>
                <a:ea typeface="Open Sans"/>
                <a:cs typeface="Open Sans"/>
                <a:sym typeface="Open Sans"/>
              </a:rPr>
              <a:t>Em 4 anos as novas incorporações já representam 50% do valor total de ressarcimento aos estados, com o valor total crescendo em ritmo até 3,5 vezes superior ao crescimento verificado nas tecnologias antigas.</a:t>
            </a:r>
            <a:endParaRPr sz="1600">
              <a:solidFill>
                <a:schemeClr val="lt1"/>
              </a:solidFill>
              <a:latin typeface="Open Sans"/>
              <a:ea typeface="Open Sans"/>
              <a:cs typeface="Open Sans"/>
              <a:sym typeface="Open Sans"/>
            </a:endParaRPr>
          </a:p>
        </p:txBody>
      </p:sp>
      <p:sp>
        <p:nvSpPr>
          <p:cNvPr id="433" name="Google Shape;433;p20"/>
          <p:cNvSpPr txBox="1"/>
          <p:nvPr/>
        </p:nvSpPr>
        <p:spPr>
          <a:xfrm>
            <a:off x="1704124" y="5282696"/>
            <a:ext cx="56565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600">
                <a:solidFill>
                  <a:schemeClr val="lt1"/>
                </a:solidFill>
                <a:latin typeface="Open Sans"/>
                <a:ea typeface="Open Sans"/>
                <a:cs typeface="Open Sans"/>
                <a:sym typeface="Open Sans"/>
              </a:rPr>
              <a:t>O crescimento vegetativo de medicamentos do Grupo 1B manteve-se estável após 2022, sendo o valor total influenciado pelas novas incorporações.</a:t>
            </a:r>
            <a:endParaRPr sz="1600">
              <a:solidFill>
                <a:schemeClr val="lt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7"/>
        <p:cNvGrpSpPr/>
        <p:nvPr/>
      </p:nvGrpSpPr>
      <p:grpSpPr>
        <a:xfrm>
          <a:off x="0" y="0"/>
          <a:ext cx="0" cy="0"/>
          <a:chOff x="0" y="0"/>
          <a:chExt cx="0" cy="0"/>
        </a:xfrm>
      </p:grpSpPr>
      <p:pic>
        <p:nvPicPr>
          <p:cNvPr id="438" name="Google Shape;438;p21"/>
          <p:cNvPicPr preferRelativeResize="0"/>
          <p:nvPr/>
        </p:nvPicPr>
        <p:blipFill rotWithShape="1">
          <a:blip r:embed="rId4">
            <a:alphaModFix/>
          </a:blip>
          <a:srcRect/>
          <a:stretch/>
        </p:blipFill>
        <p:spPr>
          <a:xfrm>
            <a:off x="-2073827" y="4379508"/>
            <a:ext cx="4714388" cy="4714388"/>
          </a:xfrm>
          <a:prstGeom prst="rect">
            <a:avLst/>
          </a:prstGeom>
          <a:noFill/>
          <a:ln>
            <a:noFill/>
          </a:ln>
        </p:spPr>
      </p:pic>
      <p:pic>
        <p:nvPicPr>
          <p:cNvPr id="439" name="Google Shape;439;p21"/>
          <p:cNvPicPr preferRelativeResize="0"/>
          <p:nvPr/>
        </p:nvPicPr>
        <p:blipFill rotWithShape="1">
          <a:blip r:embed="rId5">
            <a:alphaModFix/>
          </a:blip>
          <a:srcRect/>
          <a:stretch/>
        </p:blipFill>
        <p:spPr>
          <a:xfrm>
            <a:off x="363893" y="175096"/>
            <a:ext cx="905070" cy="905070"/>
          </a:xfrm>
          <a:prstGeom prst="rect">
            <a:avLst/>
          </a:prstGeom>
          <a:noFill/>
          <a:ln>
            <a:noFill/>
          </a:ln>
        </p:spPr>
      </p:pic>
      <p:pic>
        <p:nvPicPr>
          <p:cNvPr id="440" name="Google Shape;440;p21"/>
          <p:cNvPicPr preferRelativeResize="0"/>
          <p:nvPr/>
        </p:nvPicPr>
        <p:blipFill rotWithShape="1">
          <a:blip r:embed="rId6">
            <a:alphaModFix/>
          </a:blip>
          <a:srcRect/>
          <a:stretch/>
        </p:blipFill>
        <p:spPr>
          <a:xfrm>
            <a:off x="9939727" y="133415"/>
            <a:ext cx="2233611" cy="1044419"/>
          </a:xfrm>
          <a:prstGeom prst="rect">
            <a:avLst/>
          </a:prstGeom>
          <a:noFill/>
          <a:ln>
            <a:noFill/>
          </a:ln>
        </p:spPr>
      </p:pic>
      <p:sp>
        <p:nvSpPr>
          <p:cNvPr id="441" name="Google Shape;441;p21"/>
          <p:cNvSpPr/>
          <p:nvPr/>
        </p:nvSpPr>
        <p:spPr>
          <a:xfrm>
            <a:off x="-1185894" y="1080166"/>
            <a:ext cx="92250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Medicamentos incorporados/ ampliados 1B</a:t>
            </a:r>
            <a:endParaRPr/>
          </a:p>
        </p:txBody>
      </p:sp>
      <p:pic>
        <p:nvPicPr>
          <p:cNvPr id="442" name="Google Shape;442;p21"/>
          <p:cNvPicPr preferRelativeResize="0"/>
          <p:nvPr/>
        </p:nvPicPr>
        <p:blipFill rotWithShape="1">
          <a:blip r:embed="rId7">
            <a:alphaModFix/>
          </a:blip>
          <a:srcRect/>
          <a:stretch/>
        </p:blipFill>
        <p:spPr>
          <a:xfrm>
            <a:off x="3891624" y="2149320"/>
            <a:ext cx="8300377" cy="4005567"/>
          </a:xfrm>
          <a:prstGeom prst="rect">
            <a:avLst/>
          </a:prstGeom>
          <a:noFill/>
          <a:ln>
            <a:noFill/>
          </a:ln>
        </p:spPr>
      </p:pic>
      <p:sp>
        <p:nvSpPr>
          <p:cNvPr id="443" name="Google Shape;443;p21"/>
          <p:cNvSpPr txBox="1"/>
          <p:nvPr/>
        </p:nvSpPr>
        <p:spPr>
          <a:xfrm>
            <a:off x="73817" y="2902180"/>
            <a:ext cx="3649200" cy="147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alibri"/>
                <a:ea typeface="Calibri"/>
                <a:cs typeface="Calibri"/>
                <a:sym typeface="Calibri"/>
              </a:rPr>
              <a:t>Apenas 3 medicamentos (do total de 19 medicamentos/apresentações) incorporados/ampliados correspondem a 80% da despesa das novas incorporações de 1B;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7"/>
        <p:cNvGrpSpPr/>
        <p:nvPr/>
      </p:nvGrpSpPr>
      <p:grpSpPr>
        <a:xfrm>
          <a:off x="0" y="0"/>
          <a:ext cx="0" cy="0"/>
          <a:chOff x="0" y="0"/>
          <a:chExt cx="0" cy="0"/>
        </a:xfrm>
      </p:grpSpPr>
      <p:pic>
        <p:nvPicPr>
          <p:cNvPr id="448" name="Google Shape;448;p22"/>
          <p:cNvPicPr preferRelativeResize="0"/>
          <p:nvPr/>
        </p:nvPicPr>
        <p:blipFill rotWithShape="1">
          <a:blip r:embed="rId4">
            <a:alphaModFix/>
          </a:blip>
          <a:srcRect/>
          <a:stretch/>
        </p:blipFill>
        <p:spPr>
          <a:xfrm>
            <a:off x="-2073827" y="4379508"/>
            <a:ext cx="4714388" cy="4714388"/>
          </a:xfrm>
          <a:prstGeom prst="rect">
            <a:avLst/>
          </a:prstGeom>
          <a:noFill/>
          <a:ln>
            <a:noFill/>
          </a:ln>
        </p:spPr>
      </p:pic>
      <p:pic>
        <p:nvPicPr>
          <p:cNvPr id="449" name="Google Shape;449;p22"/>
          <p:cNvPicPr preferRelativeResize="0"/>
          <p:nvPr/>
        </p:nvPicPr>
        <p:blipFill rotWithShape="1">
          <a:blip r:embed="rId5">
            <a:alphaModFix/>
          </a:blip>
          <a:srcRect/>
          <a:stretch/>
        </p:blipFill>
        <p:spPr>
          <a:xfrm>
            <a:off x="363893" y="175096"/>
            <a:ext cx="905070" cy="905070"/>
          </a:xfrm>
          <a:prstGeom prst="rect">
            <a:avLst/>
          </a:prstGeom>
          <a:noFill/>
          <a:ln>
            <a:noFill/>
          </a:ln>
        </p:spPr>
      </p:pic>
      <p:pic>
        <p:nvPicPr>
          <p:cNvPr id="450" name="Google Shape;450;p22"/>
          <p:cNvPicPr preferRelativeResize="0"/>
          <p:nvPr/>
        </p:nvPicPr>
        <p:blipFill rotWithShape="1">
          <a:blip r:embed="rId6">
            <a:alphaModFix/>
          </a:blip>
          <a:srcRect/>
          <a:stretch/>
        </p:blipFill>
        <p:spPr>
          <a:xfrm>
            <a:off x="9939727" y="133415"/>
            <a:ext cx="2233611" cy="1044419"/>
          </a:xfrm>
          <a:prstGeom prst="rect">
            <a:avLst/>
          </a:prstGeom>
          <a:noFill/>
          <a:ln>
            <a:noFill/>
          </a:ln>
        </p:spPr>
      </p:pic>
      <p:sp>
        <p:nvSpPr>
          <p:cNvPr id="451" name="Google Shape;451;p22"/>
          <p:cNvSpPr/>
          <p:nvPr/>
        </p:nvSpPr>
        <p:spPr>
          <a:xfrm>
            <a:off x="-1185894" y="1080166"/>
            <a:ext cx="92250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rgbClr val="FFFFFF"/>
                </a:solidFill>
                <a:latin typeface="Calibri"/>
                <a:ea typeface="Calibri"/>
                <a:cs typeface="Calibri"/>
                <a:sym typeface="Calibri"/>
              </a:rPr>
              <a:t>Medicamentos incorporados/ ampliados 1B</a:t>
            </a:r>
            <a:endParaRPr/>
          </a:p>
        </p:txBody>
      </p:sp>
      <p:sp>
        <p:nvSpPr>
          <p:cNvPr id="452" name="Google Shape;452;p22"/>
          <p:cNvSpPr txBox="1"/>
          <p:nvPr/>
        </p:nvSpPr>
        <p:spPr>
          <a:xfrm>
            <a:off x="1" y="2902180"/>
            <a:ext cx="3772500" cy="147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alibri"/>
                <a:ea typeface="Calibri"/>
                <a:cs typeface="Calibri"/>
                <a:sym typeface="Calibri"/>
              </a:rPr>
              <a:t>Os dois primeiros medicamentos com maior % de despesa se mantém no ranking de 2024 (mepolizumabe e omalizumabe), com aumento do % de sua participação em 80% da despesa;</a:t>
            </a:r>
            <a:endParaRPr/>
          </a:p>
        </p:txBody>
      </p:sp>
      <p:pic>
        <p:nvPicPr>
          <p:cNvPr id="453" name="Google Shape;453;p22"/>
          <p:cNvPicPr preferRelativeResize="0"/>
          <p:nvPr/>
        </p:nvPicPr>
        <p:blipFill rotWithShape="1">
          <a:blip r:embed="rId7">
            <a:alphaModFix/>
          </a:blip>
          <a:srcRect/>
          <a:stretch/>
        </p:blipFill>
        <p:spPr>
          <a:xfrm>
            <a:off x="3772428" y="2266950"/>
            <a:ext cx="8419572" cy="38879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7"/>
        <p:cNvGrpSpPr/>
        <p:nvPr/>
      </p:nvGrpSpPr>
      <p:grpSpPr>
        <a:xfrm>
          <a:off x="0" y="0"/>
          <a:ext cx="0" cy="0"/>
          <a:chOff x="0" y="0"/>
          <a:chExt cx="0" cy="0"/>
        </a:xfrm>
      </p:grpSpPr>
      <p:pic>
        <p:nvPicPr>
          <p:cNvPr id="458" name="Google Shape;458;p23"/>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59" name="Google Shape;459;p23"/>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23"/>
          <p:cNvSpPr/>
          <p:nvPr/>
        </p:nvSpPr>
        <p:spPr>
          <a:xfrm>
            <a:off x="-1147795" y="661410"/>
            <a:ext cx="91656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chemeClr val="lt1"/>
                </a:solidFill>
                <a:latin typeface="Calibri"/>
                <a:ea typeface="Calibri"/>
                <a:cs typeface="Calibri"/>
                <a:sym typeface="Calibri"/>
              </a:rPr>
              <a:t>Comparação de estimativas repasse Grupo 1B </a:t>
            </a:r>
            <a:endParaRPr sz="1800">
              <a:solidFill>
                <a:schemeClr val="lt1"/>
              </a:solidFill>
              <a:latin typeface="Calibri"/>
              <a:ea typeface="Calibri"/>
              <a:cs typeface="Calibri"/>
              <a:sym typeface="Calibri"/>
            </a:endParaRPr>
          </a:p>
        </p:txBody>
      </p:sp>
      <p:graphicFrame>
        <p:nvGraphicFramePr>
          <p:cNvPr id="461" name="Google Shape;461;p23"/>
          <p:cNvGraphicFramePr/>
          <p:nvPr/>
        </p:nvGraphicFramePr>
        <p:xfrm>
          <a:off x="602785" y="1893229"/>
          <a:ext cx="3000000" cy="3000000"/>
        </p:xfrm>
        <a:graphic>
          <a:graphicData uri="http://schemas.openxmlformats.org/drawingml/2006/table">
            <a:tbl>
              <a:tblPr firstRow="1" bandRow="1">
                <a:noFill/>
                <a:tableStyleId>{252092A1-413A-49DB-937F-45B02CB74A4B}</a:tableStyleId>
              </a:tblPr>
              <a:tblGrid>
                <a:gridCol w="2565400">
                  <a:extLst>
                    <a:ext uri="{9D8B030D-6E8A-4147-A177-3AD203B41FA5}">
                      <a16:colId xmlns:a16="http://schemas.microsoft.com/office/drawing/2014/main" val="20000"/>
                    </a:ext>
                  </a:extLst>
                </a:gridCol>
                <a:gridCol w="2565400">
                  <a:extLst>
                    <a:ext uri="{9D8B030D-6E8A-4147-A177-3AD203B41FA5}">
                      <a16:colId xmlns:a16="http://schemas.microsoft.com/office/drawing/2014/main" val="20001"/>
                    </a:ext>
                  </a:extLst>
                </a:gridCol>
                <a:gridCol w="2565400">
                  <a:extLst>
                    <a:ext uri="{9D8B030D-6E8A-4147-A177-3AD203B41FA5}">
                      <a16:colId xmlns:a16="http://schemas.microsoft.com/office/drawing/2014/main" val="20002"/>
                    </a:ext>
                  </a:extLst>
                </a:gridCol>
                <a:gridCol w="2565400">
                  <a:extLst>
                    <a:ext uri="{9D8B030D-6E8A-4147-A177-3AD203B41FA5}">
                      <a16:colId xmlns:a16="http://schemas.microsoft.com/office/drawing/2014/main" val="20003"/>
                    </a:ext>
                  </a:extLst>
                </a:gridCol>
              </a:tblGrid>
              <a:tr h="689700">
                <a:tc>
                  <a:txBody>
                    <a:bodyPr/>
                    <a:lstStyle/>
                    <a:p>
                      <a:pPr marL="0" marR="0" lvl="0" indent="0" algn="ctr" rtl="0">
                        <a:spcBef>
                          <a:spcPts val="0"/>
                        </a:spcBef>
                        <a:spcAft>
                          <a:spcPts val="0"/>
                        </a:spcAft>
                        <a:buNone/>
                      </a:pP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pt-BR" sz="1800" u="none" strike="noStrike" cap="none"/>
                        <a:t>TOTAL REPASSADO 2023</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TOTAL REPASSADO 2024</a:t>
                      </a:r>
                      <a:endParaRPr/>
                    </a:p>
                  </a:txBody>
                  <a:tcPr marL="91450" marR="91450" marT="45725" marB="45725" anchor="ctr"/>
                </a:tc>
                <a:tc>
                  <a:txBody>
                    <a:bodyPr/>
                    <a:lstStyle/>
                    <a:p>
                      <a:pPr marL="0" marR="0" lvl="0" indent="0" algn="ctr" rtl="0">
                        <a:spcBef>
                          <a:spcPts val="0"/>
                        </a:spcBef>
                        <a:spcAft>
                          <a:spcPts val="0"/>
                        </a:spcAft>
                        <a:buNone/>
                      </a:pPr>
                      <a:r>
                        <a:rPr lang="pt-BR" sz="1800" u="none" strike="noStrike" cap="none"/>
                        <a:t>TOTAL REPASSADO 2025</a:t>
                      </a:r>
                      <a:endParaRPr/>
                    </a:p>
                  </a:txBody>
                  <a:tcPr marL="91450" marR="91450" marT="45725" marB="45725" anchor="ctr"/>
                </a:tc>
                <a:extLst>
                  <a:ext uri="{0D108BD9-81ED-4DB2-BD59-A6C34878D82A}">
                    <a16:rowId xmlns:a16="http://schemas.microsoft.com/office/drawing/2014/main" val="10000"/>
                  </a:ext>
                </a:extLst>
              </a:tr>
              <a:tr h="671550">
                <a:tc>
                  <a:txBody>
                    <a:bodyPr/>
                    <a:lstStyle/>
                    <a:p>
                      <a:pPr marL="0" marR="0" lvl="0" indent="0" algn="ctr" rtl="0">
                        <a:spcBef>
                          <a:spcPts val="0"/>
                        </a:spcBef>
                        <a:spcAft>
                          <a:spcPts val="0"/>
                        </a:spcAft>
                        <a:buNone/>
                      </a:pPr>
                      <a:r>
                        <a:rPr lang="pt-BR" sz="1800" u="none" strike="noStrike" cap="none"/>
                        <a:t>Projetado</a:t>
                      </a:r>
                      <a:endParaRPr/>
                    </a:p>
                  </a:txBody>
                  <a:tcPr marL="91450" marR="91450" marT="45725" marB="45725" anchor="ctr">
                    <a:solidFill>
                      <a:srgbClr val="E1EFD8"/>
                    </a:solidFill>
                  </a:tcPr>
                </a:tc>
                <a:tc>
                  <a:txBody>
                    <a:bodyPr/>
                    <a:lstStyle/>
                    <a:p>
                      <a:pPr marL="0" marR="0" lvl="0" indent="0" algn="ctr" rtl="0">
                        <a:spcBef>
                          <a:spcPts val="0"/>
                        </a:spcBef>
                        <a:spcAft>
                          <a:spcPts val="0"/>
                        </a:spcAft>
                        <a:buNone/>
                      </a:pPr>
                      <a:r>
                        <a:rPr lang="pt-BR" sz="1800" u="none" strike="noStrike" cap="none"/>
                        <a:t>R$ 793.285.946,20</a:t>
                      </a:r>
                      <a:endParaRPr/>
                    </a:p>
                  </a:txBody>
                  <a:tcPr marL="91450" marR="91450" marT="45725" marB="45725" anchor="ctr">
                    <a:solidFill>
                      <a:srgbClr val="E1EFD8"/>
                    </a:solidFill>
                  </a:tcPr>
                </a:tc>
                <a:tc>
                  <a:txBody>
                    <a:bodyPr/>
                    <a:lstStyle/>
                    <a:p>
                      <a:pPr marL="0" marR="0" lvl="0" indent="0" algn="ctr" rtl="0">
                        <a:spcBef>
                          <a:spcPts val="0"/>
                        </a:spcBef>
                        <a:spcAft>
                          <a:spcPts val="0"/>
                        </a:spcAft>
                        <a:buNone/>
                      </a:pPr>
                      <a:r>
                        <a:rPr lang="pt-BR" sz="1800" u="none" strike="noStrike" cap="none"/>
                        <a:t>R$ 1.297.332.335,09</a:t>
                      </a:r>
                      <a:endParaRPr/>
                    </a:p>
                  </a:txBody>
                  <a:tcPr marL="91450" marR="91450" marT="45725" marB="45725" anchor="ctr">
                    <a:solidFill>
                      <a:srgbClr val="E1EFD8"/>
                    </a:solidFill>
                  </a:tcPr>
                </a:tc>
                <a:tc>
                  <a:txBody>
                    <a:bodyPr/>
                    <a:lstStyle/>
                    <a:p>
                      <a:pPr marL="0" marR="0" lvl="0" indent="0" algn="ctr" rtl="0">
                        <a:spcBef>
                          <a:spcPts val="0"/>
                        </a:spcBef>
                        <a:spcAft>
                          <a:spcPts val="0"/>
                        </a:spcAft>
                        <a:buNone/>
                      </a:pPr>
                      <a:r>
                        <a:rPr lang="pt-BR" sz="1800" u="none" strike="noStrike" cap="none"/>
                        <a:t>R$ 1.692.714.147,32</a:t>
                      </a:r>
                      <a:endParaRPr/>
                    </a:p>
                  </a:txBody>
                  <a:tcPr marL="91450" marR="91450" marT="45725" marB="45725" anchor="ctr">
                    <a:solidFill>
                      <a:srgbClr val="E1EFD8"/>
                    </a:solidFill>
                  </a:tcPr>
                </a:tc>
                <a:extLst>
                  <a:ext uri="{0D108BD9-81ED-4DB2-BD59-A6C34878D82A}">
                    <a16:rowId xmlns:a16="http://schemas.microsoft.com/office/drawing/2014/main" val="10001"/>
                  </a:ext>
                </a:extLst>
              </a:tr>
              <a:tr h="671550">
                <a:tc>
                  <a:txBody>
                    <a:bodyPr/>
                    <a:lstStyle/>
                    <a:p>
                      <a:pPr marL="0" marR="0" lvl="0" indent="0" algn="ctr" rtl="0">
                        <a:spcBef>
                          <a:spcPts val="0"/>
                        </a:spcBef>
                        <a:spcAft>
                          <a:spcPts val="0"/>
                        </a:spcAft>
                        <a:buNone/>
                      </a:pPr>
                      <a:r>
                        <a:rPr lang="pt-BR" sz="1800" u="none" strike="noStrike" cap="none"/>
                        <a:t>SPO</a:t>
                      </a:r>
                      <a:endParaRPr/>
                    </a:p>
                  </a:txBody>
                  <a:tcPr marL="91450" marR="91450" marT="45725" marB="45725" anchor="ctr">
                    <a:solidFill>
                      <a:srgbClr val="FBE4D4"/>
                    </a:solidFill>
                  </a:tcPr>
                </a:tc>
                <a:tc>
                  <a:txBody>
                    <a:bodyPr/>
                    <a:lstStyle/>
                    <a:p>
                      <a:pPr marL="0" marR="0" lvl="0" indent="0" algn="ctr" rtl="0">
                        <a:spcBef>
                          <a:spcPts val="0"/>
                        </a:spcBef>
                        <a:spcAft>
                          <a:spcPts val="0"/>
                        </a:spcAft>
                        <a:buNone/>
                      </a:pPr>
                      <a:r>
                        <a:rPr lang="pt-BR" sz="1800" u="none" strike="noStrike" cap="none"/>
                        <a:t>R$ 612.000.000,00</a:t>
                      </a:r>
                      <a:endParaRPr/>
                    </a:p>
                  </a:txBody>
                  <a:tcPr marL="91450" marR="91450" marT="45725" marB="45725" anchor="ctr">
                    <a:solidFill>
                      <a:srgbClr val="FBE4D4"/>
                    </a:solidFill>
                  </a:tcPr>
                </a:tc>
                <a:tc>
                  <a:txBody>
                    <a:bodyPr/>
                    <a:lstStyle/>
                    <a:p>
                      <a:pPr marL="0" marR="0" lvl="0" indent="0" algn="ctr" rtl="0">
                        <a:spcBef>
                          <a:spcPts val="0"/>
                        </a:spcBef>
                        <a:spcAft>
                          <a:spcPts val="0"/>
                        </a:spcAft>
                        <a:buNone/>
                      </a:pPr>
                      <a:r>
                        <a:rPr lang="pt-BR" sz="1800" u="none" strike="noStrike" cap="none"/>
                        <a:t>R$ 990.000.000,00</a:t>
                      </a:r>
                      <a:endParaRPr/>
                    </a:p>
                  </a:txBody>
                  <a:tcPr marL="91450" marR="91450" marT="45725" marB="45725" anchor="ctr">
                    <a:solidFill>
                      <a:srgbClr val="FBE4D4"/>
                    </a:solidFill>
                  </a:tcPr>
                </a:tc>
                <a:tc>
                  <a:txBody>
                    <a:bodyPr/>
                    <a:lstStyle/>
                    <a:p>
                      <a:pPr marL="0" marR="0" lvl="0" indent="0" algn="ctr" rtl="0">
                        <a:spcBef>
                          <a:spcPts val="0"/>
                        </a:spcBef>
                        <a:spcAft>
                          <a:spcPts val="0"/>
                        </a:spcAft>
                        <a:buNone/>
                      </a:pPr>
                      <a:r>
                        <a:rPr lang="pt-BR" sz="1800" u="none" strike="noStrike" cap="none"/>
                        <a:t>R$ 1.580.000.000,00</a:t>
                      </a:r>
                      <a:endParaRPr/>
                    </a:p>
                  </a:txBody>
                  <a:tcPr marL="91450" marR="91450" marT="45725" marB="45725" anchor="ctr">
                    <a:solidFill>
                      <a:srgbClr val="FBE4D4"/>
                    </a:solidFill>
                  </a:tcPr>
                </a:tc>
                <a:extLst>
                  <a:ext uri="{0D108BD9-81ED-4DB2-BD59-A6C34878D82A}">
                    <a16:rowId xmlns:a16="http://schemas.microsoft.com/office/drawing/2014/main" val="10002"/>
                  </a:ext>
                </a:extLst>
              </a:tr>
              <a:tr h="671550">
                <a:tc>
                  <a:txBody>
                    <a:bodyPr/>
                    <a:lstStyle/>
                    <a:p>
                      <a:pPr marL="0" marR="0" lvl="0" indent="0" algn="ctr" rtl="0">
                        <a:spcBef>
                          <a:spcPts val="0"/>
                        </a:spcBef>
                        <a:spcAft>
                          <a:spcPts val="0"/>
                        </a:spcAft>
                        <a:buNone/>
                      </a:pPr>
                      <a:r>
                        <a:rPr lang="pt-BR" sz="1800" u="none" strike="noStrike" cap="none"/>
                        <a:t>Repassado</a:t>
                      </a:r>
                      <a:endParaRPr/>
                    </a:p>
                  </a:txBody>
                  <a:tcPr marL="91450" marR="91450" marT="45725" marB="45725" anchor="ctr">
                    <a:solidFill>
                      <a:srgbClr val="FFF2CC"/>
                    </a:solidFill>
                  </a:tcPr>
                </a:tc>
                <a:tc>
                  <a:txBody>
                    <a:bodyPr/>
                    <a:lstStyle/>
                    <a:p>
                      <a:pPr marL="0" marR="0" lvl="0" indent="0" algn="ctr" rtl="0">
                        <a:spcBef>
                          <a:spcPts val="0"/>
                        </a:spcBef>
                        <a:spcAft>
                          <a:spcPts val="0"/>
                        </a:spcAft>
                        <a:buNone/>
                      </a:pPr>
                      <a:r>
                        <a:rPr lang="pt-BR" sz="1800" u="none" strike="noStrike" cap="none"/>
                        <a:t>R$ 849.319.039,23</a:t>
                      </a:r>
                      <a:endParaRPr/>
                    </a:p>
                  </a:txBody>
                  <a:tcPr marL="91450" marR="91450" marT="45725" marB="45725" anchor="ctr">
                    <a:solidFill>
                      <a:srgbClr val="FFF2CC"/>
                    </a:solidFill>
                  </a:tcPr>
                </a:tc>
                <a:tc>
                  <a:txBody>
                    <a:bodyPr/>
                    <a:lstStyle/>
                    <a:p>
                      <a:pPr marL="0" marR="0" lvl="0" indent="0" algn="ctr" rtl="0">
                        <a:spcBef>
                          <a:spcPts val="0"/>
                        </a:spcBef>
                        <a:spcAft>
                          <a:spcPts val="0"/>
                        </a:spcAft>
                        <a:buNone/>
                      </a:pPr>
                      <a:r>
                        <a:rPr lang="pt-BR" sz="1800" u="none" strike="noStrike" cap="none"/>
                        <a:t>R$ 1.322.673.975,66</a:t>
                      </a:r>
                      <a:endParaRPr/>
                    </a:p>
                  </a:txBody>
                  <a:tcPr marL="91450" marR="91450" marT="45725" marB="45725" anchor="ctr">
                    <a:solidFill>
                      <a:srgbClr val="FFF2CC"/>
                    </a:solidFill>
                  </a:tcPr>
                </a:tc>
                <a:tc>
                  <a:txBody>
                    <a:bodyPr/>
                    <a:lstStyle/>
                    <a:p>
                      <a:pPr marL="0" marR="0" lvl="0" indent="0" algn="ctr" rtl="0">
                        <a:spcBef>
                          <a:spcPts val="0"/>
                        </a:spcBef>
                        <a:spcAft>
                          <a:spcPts val="0"/>
                        </a:spcAft>
                        <a:buClr>
                          <a:schemeClr val="dk1"/>
                        </a:buClr>
                        <a:buSzPts val="1800"/>
                        <a:buFont typeface="Calibri"/>
                        <a:buNone/>
                      </a:pPr>
                      <a:r>
                        <a:rPr lang="pt-BR" sz="1800" b="0" i="0" u="none" strike="noStrike" cap="none">
                          <a:latin typeface="Calibri"/>
                          <a:ea typeface="Calibri"/>
                          <a:cs typeface="Calibri"/>
                          <a:sym typeface="Calibri"/>
                        </a:rPr>
                        <a:t>R$ 1.337.082.800,31</a:t>
                      </a:r>
                      <a:endParaRPr sz="1800" u="none" strike="noStrike" cap="none"/>
                    </a:p>
                  </a:txBody>
                  <a:tcPr marL="91450" marR="91450" marT="45725" marB="45725" anchor="ctr">
                    <a:solidFill>
                      <a:srgbClr val="FFF2CC"/>
                    </a:solidFill>
                  </a:tcPr>
                </a:tc>
                <a:extLst>
                  <a:ext uri="{0D108BD9-81ED-4DB2-BD59-A6C34878D82A}">
                    <a16:rowId xmlns:a16="http://schemas.microsoft.com/office/drawing/2014/main" val="10003"/>
                  </a:ext>
                </a:extLst>
              </a:tr>
            </a:tbl>
          </a:graphicData>
        </a:graphic>
      </p:graphicFrame>
      <p:sp>
        <p:nvSpPr>
          <p:cNvPr id="462" name="Google Shape;462;p23"/>
          <p:cNvSpPr txBox="1"/>
          <p:nvPr/>
        </p:nvSpPr>
        <p:spPr>
          <a:xfrm>
            <a:off x="3616403" y="4729472"/>
            <a:ext cx="7630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rgbClr val="FFFFFF"/>
                </a:solidFill>
                <a:latin typeface="Calibri"/>
                <a:ea typeface="Calibri"/>
                <a:cs typeface="Calibri"/>
                <a:sym typeface="Calibri"/>
              </a:rPr>
              <a:t>*Valor de R$ 1.337.082.800,31  se refere ao repasse de 3 trimestres de 2025</a:t>
            </a:r>
            <a:endParaRPr sz="1800">
              <a:solidFill>
                <a:schemeClr val="dk1"/>
              </a:solidFill>
              <a:latin typeface="Calibri"/>
              <a:ea typeface="Calibri"/>
              <a:cs typeface="Calibri"/>
              <a:sym typeface="Calibri"/>
            </a:endParaRPr>
          </a:p>
        </p:txBody>
      </p:sp>
      <p:sp>
        <p:nvSpPr>
          <p:cNvPr id="463" name="Google Shape;463;p23"/>
          <p:cNvSpPr txBox="1"/>
          <p:nvPr/>
        </p:nvSpPr>
        <p:spPr>
          <a:xfrm>
            <a:off x="10862540" y="4063501"/>
            <a:ext cx="378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800" b="1">
                <a:solidFill>
                  <a:srgbClr val="FFFFFF"/>
                </a:solidFill>
                <a:latin typeface="Calibri"/>
                <a:ea typeface="Calibri"/>
                <a:cs typeface="Calibri"/>
                <a:sym typeface="Calibri"/>
              </a:rPr>
              <a:t>*</a:t>
            </a:r>
            <a:endParaRPr sz="2800" b="1">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7"/>
        <p:cNvGrpSpPr/>
        <p:nvPr/>
      </p:nvGrpSpPr>
      <p:grpSpPr>
        <a:xfrm>
          <a:off x="0" y="0"/>
          <a:ext cx="0" cy="0"/>
          <a:chOff x="0" y="0"/>
          <a:chExt cx="0" cy="0"/>
        </a:xfrm>
      </p:grpSpPr>
      <p:pic>
        <p:nvPicPr>
          <p:cNvPr id="468" name="Google Shape;468;p24"/>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69" name="Google Shape;469;p24"/>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0" name="Google Shape;470;p24"/>
          <p:cNvSpPr/>
          <p:nvPr/>
        </p:nvSpPr>
        <p:spPr>
          <a:xfrm>
            <a:off x="-1147795" y="661410"/>
            <a:ext cx="6828600" cy="6519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chemeClr val="lt1"/>
                </a:solidFill>
                <a:latin typeface="Calibri"/>
                <a:ea typeface="Calibri"/>
                <a:cs typeface="Calibri"/>
                <a:sym typeface="Calibri"/>
              </a:rPr>
              <a:t>Análise dos dados de 2024 </a:t>
            </a:r>
            <a:endParaRPr sz="1800">
              <a:solidFill>
                <a:schemeClr val="lt1"/>
              </a:solidFill>
              <a:latin typeface="Calibri"/>
              <a:ea typeface="Calibri"/>
              <a:cs typeface="Calibri"/>
              <a:sym typeface="Calibri"/>
            </a:endParaRPr>
          </a:p>
        </p:txBody>
      </p:sp>
      <p:graphicFrame>
        <p:nvGraphicFramePr>
          <p:cNvPr id="471" name="Google Shape;471;p24"/>
          <p:cNvGraphicFramePr/>
          <p:nvPr/>
        </p:nvGraphicFramePr>
        <p:xfrm>
          <a:off x="1641058" y="1681518"/>
          <a:ext cx="8362950" cy="4486275"/>
        </p:xfrm>
        <a:graphic>
          <a:graphicData uri="http://schemas.openxmlformats.org/drawingml/2006/chart">
            <c:chart xmlns:c="http://schemas.openxmlformats.org/drawingml/2006/chart" xmlns:r="http://schemas.openxmlformats.org/officeDocument/2006/relationships" r:id="rId5"/>
          </a:graphicData>
        </a:graphic>
      </p:graphicFrame>
      <p:sp>
        <p:nvSpPr>
          <p:cNvPr id="472" name="Google Shape;472;p24"/>
          <p:cNvSpPr/>
          <p:nvPr/>
        </p:nvSpPr>
        <p:spPr>
          <a:xfrm>
            <a:off x="4091774" y="5628060"/>
            <a:ext cx="11223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800" b="1">
                <a:solidFill>
                  <a:srgbClr val="000000"/>
                </a:solidFill>
                <a:latin typeface="Calibri"/>
                <a:ea typeface="Calibri"/>
                <a:cs typeface="Calibri"/>
                <a:sym typeface="Calibri"/>
              </a:rPr>
              <a:t>Projetado</a:t>
            </a:r>
            <a:endParaRPr sz="1800">
              <a:solidFill>
                <a:schemeClr val="dk1"/>
              </a:solidFill>
              <a:latin typeface="Calibri"/>
              <a:ea typeface="Calibri"/>
              <a:cs typeface="Calibri"/>
              <a:sym typeface="Calibri"/>
            </a:endParaRPr>
          </a:p>
        </p:txBody>
      </p:sp>
      <p:sp>
        <p:nvSpPr>
          <p:cNvPr id="473" name="Google Shape;473;p24"/>
          <p:cNvSpPr/>
          <p:nvPr/>
        </p:nvSpPr>
        <p:spPr>
          <a:xfrm>
            <a:off x="5903568" y="5628060"/>
            <a:ext cx="5727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800" b="1">
                <a:solidFill>
                  <a:srgbClr val="000000"/>
                </a:solidFill>
                <a:latin typeface="Calibri"/>
                <a:ea typeface="Calibri"/>
                <a:cs typeface="Calibri"/>
                <a:sym typeface="Calibri"/>
              </a:rPr>
              <a:t>SPO</a:t>
            </a:r>
            <a:endParaRPr sz="1800">
              <a:solidFill>
                <a:schemeClr val="dk1"/>
              </a:solidFill>
              <a:latin typeface="Calibri"/>
              <a:ea typeface="Calibri"/>
              <a:cs typeface="Calibri"/>
              <a:sym typeface="Calibri"/>
            </a:endParaRPr>
          </a:p>
        </p:txBody>
      </p:sp>
      <p:sp>
        <p:nvSpPr>
          <p:cNvPr id="474" name="Google Shape;474;p24"/>
          <p:cNvSpPr/>
          <p:nvPr/>
        </p:nvSpPr>
        <p:spPr>
          <a:xfrm>
            <a:off x="7269930" y="5628060"/>
            <a:ext cx="12072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1800" b="1">
                <a:solidFill>
                  <a:srgbClr val="000000"/>
                </a:solidFill>
                <a:latin typeface="Calibri"/>
                <a:ea typeface="Calibri"/>
                <a:cs typeface="Calibri"/>
                <a:sym typeface="Calibri"/>
              </a:rPr>
              <a:t>Repassado</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8"/>
        <p:cNvGrpSpPr/>
        <p:nvPr/>
      </p:nvGrpSpPr>
      <p:grpSpPr>
        <a:xfrm>
          <a:off x="0" y="0"/>
          <a:ext cx="0" cy="0"/>
          <a:chOff x="0" y="0"/>
          <a:chExt cx="0" cy="0"/>
        </a:xfrm>
      </p:grpSpPr>
      <p:pic>
        <p:nvPicPr>
          <p:cNvPr id="479" name="Google Shape;479;p25"/>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80" name="Google Shape;480;p25"/>
          <p:cNvSpPr/>
          <p:nvPr/>
        </p:nvSpPr>
        <p:spPr>
          <a:xfrm>
            <a:off x="-1168115" y="1067810"/>
            <a:ext cx="5208900" cy="6621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3200">
                <a:solidFill>
                  <a:schemeClr val="lt1"/>
                </a:solidFill>
                <a:latin typeface="Arial"/>
                <a:ea typeface="Arial"/>
                <a:cs typeface="Arial"/>
                <a:sym typeface="Arial"/>
              </a:rPr>
              <a:t>Repasse de recursos</a:t>
            </a:r>
            <a:endParaRPr sz="1800">
              <a:solidFill>
                <a:schemeClr val="lt1"/>
              </a:solidFill>
              <a:latin typeface="Calibri"/>
              <a:ea typeface="Calibri"/>
              <a:cs typeface="Calibri"/>
              <a:sym typeface="Calibri"/>
            </a:endParaRPr>
          </a:p>
        </p:txBody>
      </p:sp>
      <p:sp>
        <p:nvSpPr>
          <p:cNvPr id="481" name="Google Shape;481;p25"/>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25"/>
          <p:cNvSpPr txBox="1"/>
          <p:nvPr/>
        </p:nvSpPr>
        <p:spPr>
          <a:xfrm>
            <a:off x="1955181" y="2317595"/>
            <a:ext cx="90900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a:solidFill>
                  <a:srgbClr val="FFFFFF"/>
                </a:solidFill>
                <a:latin typeface="Arial"/>
                <a:ea typeface="Arial"/>
                <a:cs typeface="Arial"/>
                <a:sym typeface="Arial"/>
              </a:rPr>
              <a:t>Ofício-Circular Nº 6/2025/CGCEAF/DAF/SECTICS/MS de 19 de fevereiro de 2025</a:t>
            </a:r>
            <a:endParaRPr/>
          </a:p>
        </p:txBody>
      </p:sp>
      <p:pic>
        <p:nvPicPr>
          <p:cNvPr id="483" name="Google Shape;483;p25"/>
          <p:cNvPicPr preferRelativeResize="0"/>
          <p:nvPr/>
        </p:nvPicPr>
        <p:blipFill rotWithShape="1">
          <a:blip r:embed="rId5">
            <a:alphaModFix/>
          </a:blip>
          <a:srcRect/>
          <a:stretch/>
        </p:blipFill>
        <p:spPr>
          <a:xfrm>
            <a:off x="5144429" y="2877013"/>
            <a:ext cx="1540728" cy="1540728"/>
          </a:xfrm>
          <a:prstGeom prst="rect">
            <a:avLst/>
          </a:prstGeom>
          <a:noFill/>
          <a:ln>
            <a:noFill/>
          </a:ln>
        </p:spPr>
      </p:pic>
      <p:sp>
        <p:nvSpPr>
          <p:cNvPr id="484" name="Google Shape;484;p25"/>
          <p:cNvSpPr txBox="1"/>
          <p:nvPr/>
        </p:nvSpPr>
        <p:spPr>
          <a:xfrm>
            <a:off x="2103863" y="4623368"/>
            <a:ext cx="8792700" cy="101580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pt-BR" sz="2000">
                <a:solidFill>
                  <a:srgbClr val="FFFFFF"/>
                </a:solidFill>
                <a:latin typeface="Arial"/>
                <a:ea typeface="Arial"/>
                <a:cs typeface="Arial"/>
                <a:sym typeface="Arial"/>
              </a:rPr>
              <a:t>Solicitação de preços dos medicamentos dos Grupos 1B e 2 do elenco do CEAF, foram solicitados entre os medicamentos listados o fornecedor e o valor unitário (R$)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8"/>
        <p:cNvGrpSpPr/>
        <p:nvPr/>
      </p:nvGrpSpPr>
      <p:grpSpPr>
        <a:xfrm>
          <a:off x="0" y="0"/>
          <a:ext cx="0" cy="0"/>
          <a:chOff x="0" y="0"/>
          <a:chExt cx="0" cy="0"/>
        </a:xfrm>
      </p:grpSpPr>
      <p:pic>
        <p:nvPicPr>
          <p:cNvPr id="489" name="Google Shape;489;p26"/>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90" name="Google Shape;490;p26"/>
          <p:cNvSpPr/>
          <p:nvPr/>
        </p:nvSpPr>
        <p:spPr>
          <a:xfrm>
            <a:off x="-1242456" y="528834"/>
            <a:ext cx="8582100" cy="6528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2400">
                <a:solidFill>
                  <a:schemeClr val="lt1"/>
                </a:solidFill>
                <a:latin typeface="Arial"/>
                <a:ea typeface="Arial"/>
                <a:cs typeface="Arial"/>
                <a:sym typeface="Arial"/>
              </a:rPr>
              <a:t>Ofício-Circular Nº 6/2025/CGCEAF/DAF/SECTICS/MS</a:t>
            </a:r>
            <a:endParaRPr sz="2400">
              <a:solidFill>
                <a:schemeClr val="lt1"/>
              </a:solidFill>
              <a:latin typeface="Calibri"/>
              <a:ea typeface="Calibri"/>
              <a:cs typeface="Calibri"/>
              <a:sym typeface="Calibri"/>
            </a:endParaRPr>
          </a:p>
        </p:txBody>
      </p:sp>
      <p:sp>
        <p:nvSpPr>
          <p:cNvPr id="491" name="Google Shape;491;p26"/>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492" name="Google Shape;492;p26"/>
          <p:cNvGraphicFramePr/>
          <p:nvPr/>
        </p:nvGraphicFramePr>
        <p:xfrm>
          <a:off x="1365885" y="1289050"/>
          <a:ext cx="9481800" cy="5561325"/>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6"/>
        <p:cNvGrpSpPr/>
        <p:nvPr/>
      </p:nvGrpSpPr>
      <p:grpSpPr>
        <a:xfrm>
          <a:off x="0" y="0"/>
          <a:ext cx="0" cy="0"/>
          <a:chOff x="0" y="0"/>
          <a:chExt cx="0" cy="0"/>
        </a:xfrm>
      </p:grpSpPr>
      <p:pic>
        <p:nvPicPr>
          <p:cNvPr id="497" name="Google Shape;497;p27"/>
          <p:cNvPicPr preferRelativeResize="0"/>
          <p:nvPr/>
        </p:nvPicPr>
        <p:blipFill rotWithShape="1">
          <a:blip r:embed="rId4">
            <a:alphaModFix/>
          </a:blip>
          <a:srcRect/>
          <a:stretch/>
        </p:blipFill>
        <p:spPr>
          <a:xfrm>
            <a:off x="9939727" y="133415"/>
            <a:ext cx="2233611" cy="1044419"/>
          </a:xfrm>
          <a:prstGeom prst="rect">
            <a:avLst/>
          </a:prstGeom>
          <a:noFill/>
          <a:ln>
            <a:noFill/>
          </a:ln>
        </p:spPr>
      </p:pic>
      <p:sp>
        <p:nvSpPr>
          <p:cNvPr id="498" name="Google Shape;498;p27"/>
          <p:cNvSpPr/>
          <p:nvPr/>
        </p:nvSpPr>
        <p:spPr>
          <a:xfrm>
            <a:off x="-1242456" y="528834"/>
            <a:ext cx="6153900" cy="652800"/>
          </a:xfrm>
          <a:prstGeom prst="roundRect">
            <a:avLst>
              <a:gd name="adj" fmla="val 50000"/>
            </a:avLst>
          </a:prstGeom>
          <a:solidFill>
            <a:srgbClr val="173DF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r>
              <a:rPr lang="pt-BR" sz="2400">
                <a:solidFill>
                  <a:schemeClr val="lt1"/>
                </a:solidFill>
                <a:latin typeface="Arial"/>
                <a:ea typeface="Arial"/>
                <a:cs typeface="Arial"/>
                <a:sym typeface="Arial"/>
              </a:rPr>
              <a:t>Cenários de ajustes do repasse</a:t>
            </a:r>
            <a:endParaRPr sz="1800">
              <a:solidFill>
                <a:schemeClr val="lt1"/>
              </a:solidFill>
              <a:latin typeface="Calibri"/>
              <a:ea typeface="Calibri"/>
              <a:cs typeface="Calibri"/>
              <a:sym typeface="Calibri"/>
            </a:endParaRPr>
          </a:p>
        </p:txBody>
      </p:sp>
      <p:sp>
        <p:nvSpPr>
          <p:cNvPr id="499" name="Google Shape;499;p27"/>
          <p:cNvSpPr/>
          <p:nvPr/>
        </p:nvSpPr>
        <p:spPr>
          <a:xfrm>
            <a:off x="10426594" y="5456197"/>
            <a:ext cx="3493500" cy="3483300"/>
          </a:xfrm>
          <a:prstGeom prst="ellipse">
            <a:avLst/>
          </a:prstGeom>
          <a:noFill/>
          <a:ln w="479425" cap="flat" cmpd="sng">
            <a:solidFill>
              <a:srgbClr val="00FFB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0" name="Google Shape;500;p27"/>
          <p:cNvSpPr txBox="1"/>
          <p:nvPr/>
        </p:nvSpPr>
        <p:spPr>
          <a:xfrm>
            <a:off x="579120" y="1320800"/>
            <a:ext cx="116130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a:solidFill>
                  <a:schemeClr val="lt1"/>
                </a:solidFill>
                <a:latin typeface="Calibri"/>
                <a:ea typeface="Calibri"/>
                <a:cs typeface="Calibri"/>
                <a:sym typeface="Calibri"/>
              </a:rPr>
              <a:t>Considerando os dados do TabNet referente janeiro até dezembro de 2024:</a:t>
            </a:r>
            <a:endParaRPr/>
          </a:p>
        </p:txBody>
      </p:sp>
      <p:graphicFrame>
        <p:nvGraphicFramePr>
          <p:cNvPr id="501" name="Google Shape;501;p27"/>
          <p:cNvGraphicFramePr/>
          <p:nvPr/>
        </p:nvGraphicFramePr>
        <p:xfrm>
          <a:off x="1971908" y="1935628"/>
          <a:ext cx="3000000" cy="3000000"/>
        </p:xfrm>
        <a:graphic>
          <a:graphicData uri="http://schemas.openxmlformats.org/drawingml/2006/table">
            <a:tbl>
              <a:tblPr firstRow="1" bandRow="1">
                <a:noFill/>
                <a:tableStyleId>{252092A1-413A-49DB-937F-45B02CB74A4B}</a:tableStyleId>
              </a:tblPr>
              <a:tblGrid>
                <a:gridCol w="4084325">
                  <a:extLst>
                    <a:ext uri="{9D8B030D-6E8A-4147-A177-3AD203B41FA5}">
                      <a16:colId xmlns:a16="http://schemas.microsoft.com/office/drawing/2014/main" val="20000"/>
                    </a:ext>
                  </a:extLst>
                </a:gridCol>
                <a:gridCol w="408432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pt-BR" sz="1800" u="none" strike="noStrike" cap="none">
                          <a:solidFill>
                            <a:schemeClr val="dk1"/>
                          </a:solidFill>
                        </a:rPr>
                        <a:t>Valor SIGTAL atual X Quantidade aprovada em 2024 no TabNet =</a:t>
                      </a:r>
                      <a:endParaRPr/>
                    </a:p>
                  </a:txBody>
                  <a:tcPr marL="91450" marR="91450" marT="45725" marB="45725" anchor="ctr">
                    <a:solidFill>
                      <a:srgbClr val="D8E2F3"/>
                    </a:solidFill>
                  </a:tcPr>
                </a:tc>
                <a:tc>
                  <a:txBody>
                    <a:bodyPr/>
                    <a:lstStyle/>
                    <a:p>
                      <a:pPr marL="0" marR="0" lvl="0" indent="0" algn="ctr" rtl="0">
                        <a:spcBef>
                          <a:spcPts val="0"/>
                        </a:spcBef>
                        <a:spcAft>
                          <a:spcPts val="0"/>
                        </a:spcAft>
                        <a:buClr>
                          <a:schemeClr val="dk1"/>
                        </a:buClr>
                        <a:buSzPts val="1800"/>
                        <a:buFont typeface="Calibri"/>
                        <a:buNone/>
                      </a:pPr>
                      <a:r>
                        <a:rPr lang="pt-BR" sz="1800" b="0" i="0" u="none" strike="noStrike" cap="none">
                          <a:solidFill>
                            <a:schemeClr val="dk1"/>
                          </a:solidFill>
                          <a:latin typeface="Calibri"/>
                          <a:ea typeface="Calibri"/>
                          <a:cs typeface="Calibri"/>
                          <a:sym typeface="Calibri"/>
                        </a:rPr>
                        <a:t>R$ 1.424.080.232,40</a:t>
                      </a:r>
                      <a:endParaRPr sz="1800" u="none" strike="noStrike" cap="none">
                        <a:solidFill>
                          <a:schemeClr val="dk1"/>
                        </a:solidFill>
                      </a:endParaRPr>
                    </a:p>
                  </a:txBody>
                  <a:tcPr marL="91450" marR="91450" marT="45725" marB="45725" anchor="ctr">
                    <a:solidFill>
                      <a:srgbClr val="D8E2F3"/>
                    </a:solidFill>
                  </a:tcPr>
                </a:tc>
                <a:extLst>
                  <a:ext uri="{0D108BD9-81ED-4DB2-BD59-A6C34878D82A}">
                    <a16:rowId xmlns:a16="http://schemas.microsoft.com/office/drawing/2014/main" val="10000"/>
                  </a:ext>
                </a:extLst>
              </a:tr>
            </a:tbl>
          </a:graphicData>
        </a:graphic>
      </p:graphicFrame>
      <p:graphicFrame>
        <p:nvGraphicFramePr>
          <p:cNvPr id="502" name="Google Shape;502;p27"/>
          <p:cNvGraphicFramePr/>
          <p:nvPr/>
        </p:nvGraphicFramePr>
        <p:xfrm>
          <a:off x="701040" y="3657600"/>
          <a:ext cx="3000000" cy="3000000"/>
        </p:xfrm>
        <a:graphic>
          <a:graphicData uri="http://schemas.openxmlformats.org/drawingml/2006/table">
            <a:tbl>
              <a:tblPr bandRow="1">
                <a:noFill/>
                <a:tableStyleId>{252092A1-413A-49DB-937F-45B02CB74A4B}</a:tableStyleId>
              </a:tblPr>
              <a:tblGrid>
                <a:gridCol w="5768075">
                  <a:extLst>
                    <a:ext uri="{9D8B030D-6E8A-4147-A177-3AD203B41FA5}">
                      <a16:colId xmlns:a16="http://schemas.microsoft.com/office/drawing/2014/main" val="20000"/>
                    </a:ext>
                  </a:extLst>
                </a:gridCol>
                <a:gridCol w="5045525">
                  <a:extLst>
                    <a:ext uri="{9D8B030D-6E8A-4147-A177-3AD203B41FA5}">
                      <a16:colId xmlns:a16="http://schemas.microsoft.com/office/drawing/2014/main" val="20001"/>
                    </a:ext>
                  </a:extLst>
                </a:gridCol>
              </a:tblGrid>
              <a:tr h="579125">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u="none" strike="noStrike" cap="none">
                          <a:solidFill>
                            <a:schemeClr val="dk1"/>
                          </a:solidFill>
                          <a:latin typeface="Calibri"/>
                          <a:ea typeface="Calibri"/>
                          <a:cs typeface="Calibri"/>
                          <a:sym typeface="Calibri"/>
                        </a:rPr>
                        <a:t>Média PONDERADA* dos valores recebidos pela UF + 10% de margem** X Quantidade aprovada em 2024 no TabNet =</a:t>
                      </a:r>
                      <a:endParaRPr sz="1800" b="0" u="none" strike="noStrike" cap="none">
                        <a:solidFill>
                          <a:schemeClr val="dk1"/>
                        </a:solidFill>
                        <a:latin typeface="Calibri"/>
                        <a:ea typeface="Calibri"/>
                        <a:cs typeface="Calibri"/>
                        <a:sym typeface="Calibri"/>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rPr>
                        <a:t>R$ 1.236.358.401.81 (estimativa 2024)</a:t>
                      </a:r>
                      <a:endParaRPr/>
                    </a:p>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rPr>
                        <a:t>Economia de </a:t>
                      </a:r>
                      <a:r>
                        <a:rPr lang="pt-BR" sz="1800" b="0" i="0" u="none" strike="noStrike" cap="none">
                          <a:solidFill>
                            <a:schemeClr val="dk1"/>
                          </a:solidFill>
                          <a:latin typeface="Calibri"/>
                          <a:ea typeface="Calibri"/>
                          <a:cs typeface="Calibri"/>
                          <a:sym typeface="Calibri"/>
                        </a:rPr>
                        <a:t>R$ </a:t>
                      </a:r>
                      <a:r>
                        <a:rPr lang="pt-BR" sz="1800" b="1" i="0" u="none" strike="noStrike" cap="none">
                          <a:solidFill>
                            <a:schemeClr val="dk1"/>
                          </a:solidFill>
                          <a:latin typeface="Calibri"/>
                          <a:ea typeface="Calibri"/>
                          <a:cs typeface="Calibri"/>
                          <a:sym typeface="Calibri"/>
                        </a:rPr>
                        <a:t>187.721.830,58</a:t>
                      </a:r>
                      <a:r>
                        <a:rPr lang="pt-BR" sz="1800" b="0" i="0" u="none" strike="noStrike" cap="none">
                          <a:solidFill>
                            <a:schemeClr val="dk1"/>
                          </a:solidFill>
                          <a:latin typeface="Calibri"/>
                          <a:ea typeface="Calibri"/>
                          <a:cs typeface="Calibri"/>
                          <a:sym typeface="Calibri"/>
                        </a:rPr>
                        <a:t> comparado ao valor atual SIGTAP</a:t>
                      </a:r>
                      <a:endParaRPr sz="1800" b="0" i="0" u="none" strike="noStrike" cap="none">
                        <a:solidFill>
                          <a:schemeClr val="dk1"/>
                        </a:solidFill>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bl>
          </a:graphicData>
        </a:graphic>
      </p:graphicFrame>
      <p:graphicFrame>
        <p:nvGraphicFramePr>
          <p:cNvPr id="503" name="Google Shape;503;p27"/>
          <p:cNvGraphicFramePr/>
          <p:nvPr/>
        </p:nvGraphicFramePr>
        <p:xfrm>
          <a:off x="701040" y="4511040"/>
          <a:ext cx="3000000" cy="3000000"/>
        </p:xfrm>
        <a:graphic>
          <a:graphicData uri="http://schemas.openxmlformats.org/drawingml/2006/table">
            <a:tbl>
              <a:tblPr bandRow="1">
                <a:noFill/>
                <a:tableStyleId>{252092A1-413A-49DB-937F-45B02CB74A4B}</a:tableStyleId>
              </a:tblPr>
              <a:tblGrid>
                <a:gridCol w="5773500">
                  <a:extLst>
                    <a:ext uri="{9D8B030D-6E8A-4147-A177-3AD203B41FA5}">
                      <a16:colId xmlns:a16="http://schemas.microsoft.com/office/drawing/2014/main" val="20000"/>
                    </a:ext>
                  </a:extLst>
                </a:gridCol>
                <a:gridCol w="5046900">
                  <a:extLst>
                    <a:ext uri="{9D8B030D-6E8A-4147-A177-3AD203B41FA5}">
                      <a16:colId xmlns:a16="http://schemas.microsoft.com/office/drawing/2014/main" val="20001"/>
                    </a:ext>
                  </a:extLst>
                </a:gridCol>
              </a:tblGrid>
              <a:tr h="558800">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u="none" strike="noStrike" cap="none">
                          <a:solidFill>
                            <a:schemeClr val="dk1"/>
                          </a:solidFill>
                          <a:latin typeface="Calibri"/>
                          <a:ea typeface="Calibri"/>
                          <a:cs typeface="Calibri"/>
                          <a:sym typeface="Calibri"/>
                        </a:rPr>
                        <a:t>Média SIMPLES dos valores recebidos pela  UF + 10% de margem** X Quantidade aprovada em 2024 no TabNet =</a:t>
                      </a:r>
                      <a:endParaRPr sz="1800" b="0" u="none" strike="noStrike" cap="none">
                        <a:solidFill>
                          <a:schemeClr val="dk1"/>
                        </a:solidFill>
                        <a:latin typeface="Calibri"/>
                        <a:ea typeface="Calibri"/>
                        <a:cs typeface="Calibri"/>
                        <a:sym typeface="Calibri"/>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latin typeface="Calibri"/>
                          <a:ea typeface="Calibri"/>
                          <a:cs typeface="Calibri"/>
                          <a:sym typeface="Calibri"/>
                        </a:rPr>
                        <a:t>R$ 1.376.653.927.75 (estimativa 2024)</a:t>
                      </a:r>
                      <a:endParaRPr sz="1800" b="0" i="0" u="none" strike="noStrike" cap="none">
                        <a:solidFill>
                          <a:schemeClr val="dk1"/>
                        </a:solidFill>
                      </a:endParaRPr>
                    </a:p>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rPr>
                        <a:t>Economia de </a:t>
                      </a:r>
                      <a:r>
                        <a:rPr lang="pt-BR" sz="1800" b="0" i="0" u="none" strike="noStrike" cap="none">
                          <a:solidFill>
                            <a:schemeClr val="dk1"/>
                          </a:solidFill>
                          <a:latin typeface="Calibri"/>
                          <a:ea typeface="Calibri"/>
                          <a:cs typeface="Calibri"/>
                          <a:sym typeface="Calibri"/>
                        </a:rPr>
                        <a:t>R$ </a:t>
                      </a:r>
                      <a:r>
                        <a:rPr lang="pt-BR" sz="1800" b="1" i="0" u="none" strike="noStrike" cap="none">
                          <a:solidFill>
                            <a:schemeClr val="dk1"/>
                          </a:solidFill>
                          <a:latin typeface="Calibri"/>
                          <a:ea typeface="Calibri"/>
                          <a:cs typeface="Calibri"/>
                          <a:sym typeface="Calibri"/>
                        </a:rPr>
                        <a:t>47.426.304,65</a:t>
                      </a:r>
                      <a:r>
                        <a:rPr lang="pt-BR" sz="1800" b="0" i="0" u="none" strike="noStrike" cap="none">
                          <a:solidFill>
                            <a:schemeClr val="dk1"/>
                          </a:solidFill>
                          <a:latin typeface="Calibri"/>
                          <a:ea typeface="Calibri"/>
                          <a:cs typeface="Calibri"/>
                          <a:sym typeface="Calibri"/>
                        </a:rPr>
                        <a:t> comparado ao valor atual SIGTAP</a:t>
                      </a:r>
                      <a:endParaRPr sz="1800" b="0" i="0" u="none" strike="noStrike" cap="none">
                        <a:solidFill>
                          <a:schemeClr val="dk1"/>
                        </a:solidFill>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bl>
          </a:graphicData>
        </a:graphic>
      </p:graphicFrame>
      <p:sp>
        <p:nvSpPr>
          <p:cNvPr id="504" name="Google Shape;504;p27"/>
          <p:cNvSpPr txBox="1"/>
          <p:nvPr/>
        </p:nvSpPr>
        <p:spPr>
          <a:xfrm>
            <a:off x="707733" y="5574768"/>
            <a:ext cx="10825200" cy="46170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pt-BR" sz="1200">
                <a:solidFill>
                  <a:srgbClr val="FFFFFF"/>
                </a:solidFill>
                <a:latin typeface="Calibri"/>
                <a:ea typeface="Calibri"/>
                <a:cs typeface="Calibri"/>
                <a:sym typeface="Calibri"/>
              </a:rPr>
              <a:t>* Consideração média ponderada: UF com maior demanda, compram maior quantidade de medicamentos e conseguem um menor preço atrelado, é o caso de São Paulo;</a:t>
            </a:r>
            <a:endParaRPr/>
          </a:p>
          <a:p>
            <a:pPr marL="0" marR="0" lvl="0" indent="0" algn="just" rtl="0">
              <a:spcBef>
                <a:spcPts val="0"/>
              </a:spcBef>
              <a:spcAft>
                <a:spcPts val="0"/>
              </a:spcAft>
              <a:buNone/>
            </a:pPr>
            <a:r>
              <a:rPr lang="pt-BR" sz="1200">
                <a:solidFill>
                  <a:srgbClr val="FFFFFF"/>
                </a:solidFill>
                <a:latin typeface="Calibri"/>
                <a:ea typeface="Calibri"/>
                <a:cs typeface="Calibri"/>
                <a:sym typeface="Calibri"/>
              </a:rPr>
              <a:t>** Margem de segurança, considerando inflação.</a:t>
            </a:r>
            <a:endParaRPr/>
          </a:p>
        </p:txBody>
      </p:sp>
      <p:graphicFrame>
        <p:nvGraphicFramePr>
          <p:cNvPr id="505" name="Google Shape;505;p27"/>
          <p:cNvGraphicFramePr/>
          <p:nvPr/>
        </p:nvGraphicFramePr>
        <p:xfrm>
          <a:off x="701040" y="2804160"/>
          <a:ext cx="3000000" cy="3000000"/>
        </p:xfrm>
        <a:graphic>
          <a:graphicData uri="http://schemas.openxmlformats.org/drawingml/2006/table">
            <a:tbl>
              <a:tblPr bandRow="1">
                <a:noFill/>
                <a:tableStyleId>{252092A1-413A-49DB-937F-45B02CB74A4B}</a:tableStyleId>
              </a:tblPr>
              <a:tblGrid>
                <a:gridCol w="5774150">
                  <a:extLst>
                    <a:ext uri="{9D8B030D-6E8A-4147-A177-3AD203B41FA5}">
                      <a16:colId xmlns:a16="http://schemas.microsoft.com/office/drawing/2014/main" val="20000"/>
                    </a:ext>
                  </a:extLst>
                </a:gridCol>
                <a:gridCol w="5046275">
                  <a:extLst>
                    <a:ext uri="{9D8B030D-6E8A-4147-A177-3AD203B41FA5}">
                      <a16:colId xmlns:a16="http://schemas.microsoft.com/office/drawing/2014/main" val="20001"/>
                    </a:ext>
                  </a:extLst>
                </a:gridCol>
              </a:tblGrid>
              <a:tr h="629925">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u="none" strike="noStrike" cap="none">
                          <a:solidFill>
                            <a:schemeClr val="dk1"/>
                          </a:solidFill>
                          <a:latin typeface="Calibri"/>
                          <a:ea typeface="Calibri"/>
                          <a:cs typeface="Calibri"/>
                          <a:sym typeface="Calibri"/>
                        </a:rPr>
                        <a:t>Média PONDERADA dos valores recebidos pela UF X Quantidade aprovada em 2024 no TabNet =</a:t>
                      </a:r>
                      <a:endParaRPr sz="1800" b="0" u="none" strike="noStrike" cap="none">
                        <a:solidFill>
                          <a:schemeClr val="dk1"/>
                        </a:solidFill>
                        <a:latin typeface="Calibri"/>
                        <a:ea typeface="Calibri"/>
                        <a:cs typeface="Calibri"/>
                        <a:sym typeface="Calibri"/>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latin typeface="Calibri"/>
                          <a:ea typeface="Calibri"/>
                          <a:cs typeface="Calibri"/>
                          <a:sym typeface="Calibri"/>
                        </a:rPr>
                        <a:t>R$ 1.123.962.183,47 (estimativa 2024)</a:t>
                      </a:r>
                      <a:endParaRPr sz="1800" b="0" i="0" u="none" strike="noStrike" cap="none">
                        <a:solidFill>
                          <a:schemeClr val="dk1"/>
                        </a:solidFill>
                      </a:endParaRPr>
                    </a:p>
                    <a:p>
                      <a:pPr marL="0" marR="0" lvl="0" indent="0" algn="ctr" rtl="0">
                        <a:lnSpc>
                          <a:spcPct val="112500"/>
                        </a:lnSpc>
                        <a:spcBef>
                          <a:spcPts val="0"/>
                        </a:spcBef>
                        <a:spcAft>
                          <a:spcPts val="0"/>
                        </a:spcAft>
                        <a:buClr>
                          <a:schemeClr val="dk1"/>
                        </a:buClr>
                        <a:buSzPts val="1800"/>
                        <a:buFont typeface="Calibri"/>
                        <a:buNone/>
                      </a:pPr>
                      <a:r>
                        <a:rPr lang="pt-BR" sz="1800" b="0" i="0" u="none" strike="noStrike" cap="none">
                          <a:solidFill>
                            <a:schemeClr val="dk1"/>
                          </a:solidFill>
                        </a:rPr>
                        <a:t>Economia de </a:t>
                      </a:r>
                      <a:r>
                        <a:rPr lang="pt-BR" sz="1800" b="1" i="0" u="none" strike="noStrike" cap="none">
                          <a:solidFill>
                            <a:schemeClr val="dk1"/>
                          </a:solidFill>
                          <a:latin typeface="Calibri"/>
                          <a:ea typeface="Calibri"/>
                          <a:cs typeface="Calibri"/>
                          <a:sym typeface="Calibri"/>
                        </a:rPr>
                        <a:t>R$ </a:t>
                      </a:r>
                      <a:r>
                        <a:rPr lang="pt-BR" sz="1800" b="1" i="0" u="none" strike="noStrike" cap="none">
                          <a:solidFill>
                            <a:schemeClr val="dk1"/>
                          </a:solidFill>
                        </a:rPr>
                        <a:t>300.118.048,93</a:t>
                      </a:r>
                      <a:r>
                        <a:rPr lang="pt-BR" sz="1800" b="0" i="0" u="none" strike="noStrike" cap="none">
                          <a:solidFill>
                            <a:schemeClr val="dk1"/>
                          </a:solidFill>
                        </a:rPr>
                        <a:t> comparado ao valor atual SIGTAP</a:t>
                      </a:r>
                      <a:endParaRPr/>
                    </a:p>
                  </a:txBody>
                  <a:tcPr marL="85725" marR="85725" marT="42875" marB="42875"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9"/>
        <p:cNvGrpSpPr/>
        <p:nvPr/>
      </p:nvGrpSpPr>
      <p:grpSpPr>
        <a:xfrm>
          <a:off x="0" y="0"/>
          <a:ext cx="0" cy="0"/>
          <a:chOff x="0" y="0"/>
          <a:chExt cx="0" cy="0"/>
        </a:xfrm>
      </p:grpSpPr>
      <p:pic>
        <p:nvPicPr>
          <p:cNvPr id="510" name="Google Shape;510;p28"/>
          <p:cNvPicPr preferRelativeResize="0"/>
          <p:nvPr/>
        </p:nvPicPr>
        <p:blipFill rotWithShape="1">
          <a:blip r:embed="rId4">
            <a:alphaModFix/>
          </a:blip>
          <a:srcRect/>
          <a:stretch/>
        </p:blipFill>
        <p:spPr>
          <a:xfrm>
            <a:off x="9939727" y="133415"/>
            <a:ext cx="2233611" cy="1044419"/>
          </a:xfrm>
          <a:prstGeom prst="rect">
            <a:avLst/>
          </a:prstGeom>
          <a:noFill/>
          <a:ln>
            <a:noFill/>
          </a:ln>
        </p:spPr>
      </p:pic>
      <p:pic>
        <p:nvPicPr>
          <p:cNvPr id="511" name="Google Shape;511;p28"/>
          <p:cNvPicPr preferRelativeResize="0"/>
          <p:nvPr/>
        </p:nvPicPr>
        <p:blipFill rotWithShape="1">
          <a:blip r:embed="rId5">
            <a:alphaModFix/>
          </a:blip>
          <a:srcRect/>
          <a:stretch/>
        </p:blipFill>
        <p:spPr>
          <a:xfrm>
            <a:off x="363893" y="175096"/>
            <a:ext cx="905070" cy="905070"/>
          </a:xfrm>
          <a:prstGeom prst="rect">
            <a:avLst/>
          </a:prstGeom>
          <a:noFill/>
          <a:ln>
            <a:noFill/>
          </a:ln>
        </p:spPr>
      </p:pic>
      <p:pic>
        <p:nvPicPr>
          <p:cNvPr id="512" name="Google Shape;512;p28"/>
          <p:cNvPicPr preferRelativeResize="0"/>
          <p:nvPr/>
        </p:nvPicPr>
        <p:blipFill rotWithShape="1">
          <a:blip r:embed="rId6">
            <a:alphaModFix/>
          </a:blip>
          <a:srcRect/>
          <a:stretch/>
        </p:blipFill>
        <p:spPr>
          <a:xfrm>
            <a:off x="-2073827" y="4379508"/>
            <a:ext cx="4714388" cy="4714388"/>
          </a:xfrm>
          <a:prstGeom prst="rect">
            <a:avLst/>
          </a:prstGeom>
          <a:noFill/>
          <a:ln>
            <a:noFill/>
          </a:ln>
        </p:spPr>
      </p:pic>
      <p:pic>
        <p:nvPicPr>
          <p:cNvPr id="513" name="Google Shape;513;p28"/>
          <p:cNvPicPr preferRelativeResize="0"/>
          <p:nvPr/>
        </p:nvPicPr>
        <p:blipFill rotWithShape="1">
          <a:blip r:embed="rId7">
            <a:alphaModFix/>
          </a:blip>
          <a:srcRect/>
          <a:stretch/>
        </p:blipFill>
        <p:spPr>
          <a:xfrm>
            <a:off x="3063723" y="0"/>
            <a:ext cx="6370834" cy="6838184"/>
          </a:xfrm>
          <a:prstGeom prst="rect">
            <a:avLst/>
          </a:prstGeom>
          <a:noFill/>
          <a:ln>
            <a:noFill/>
          </a:ln>
        </p:spPr>
      </p:pic>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B3EAC9639D0848AF65E3D31F0AE244" ma:contentTypeVersion="3" ma:contentTypeDescription="Create a new document." ma:contentTypeScope="" ma:versionID="45d490da0439544933f59faa6d67b4d2">
  <xsd:schema xmlns:xsd="http://www.w3.org/2001/XMLSchema" xmlns:xs="http://www.w3.org/2001/XMLSchema" xmlns:p="http://schemas.microsoft.com/office/2006/metadata/properties" xmlns:ns2="aeaa05af-9ed2-47d1-b3bb-07dfd617bff0" targetNamespace="http://schemas.microsoft.com/office/2006/metadata/properties" ma:root="true" ma:fieldsID="aa041b34a653dd8c9624d7ec18cfaba0" ns2:_="">
    <xsd:import namespace="aeaa05af-9ed2-47d1-b3bb-07dfd617bff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aa05af-9ed2-47d1-b3bb-07dfd617bf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774A90C-834F-4778-9871-63F10DB570DB}"/>
</file>

<file path=customXml/itemProps2.xml><?xml version="1.0" encoding="utf-8"?>
<ds:datastoreItem xmlns:ds="http://schemas.openxmlformats.org/officeDocument/2006/customXml" ds:itemID="{39A03DB9-9BFA-43A7-A636-61126B94B6FF}"/>
</file>

<file path=customXml/itemProps3.xml><?xml version="1.0" encoding="utf-8"?>
<ds:datastoreItem xmlns:ds="http://schemas.openxmlformats.org/officeDocument/2006/customXml" ds:itemID="{33C09136-6D43-4F94-8A34-4B952E377C1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16</Notes>
  <HiddenSlides>0</HiddenSlides>
  <ScaleCrop>false</ScaleCrop>
  <HeadingPairs>
    <vt:vector size="4" baseType="variant">
      <vt:variant>
        <vt:lpstr>Tema</vt:lpstr>
      </vt:variant>
      <vt:variant>
        <vt:i4>1</vt:i4>
      </vt:variant>
      <vt:variant>
        <vt:lpstr>Títulos de slides</vt:lpstr>
      </vt:variant>
      <vt:variant>
        <vt:i4>16</vt:i4>
      </vt:variant>
    </vt:vector>
  </HeadingPairs>
  <TitlesOfParts>
    <vt:vector size="17" baseType="lpstr">
      <vt:lpstr>Tema do Office</vt:lpstr>
      <vt:lpstr>Análise do financiamento do Grupo 1B do Componente Especializado da Assistência Farmacêutica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Análise do financiamento do Grupo 1B do Componente Especializado da Assistência Farmacêutica</dc:title>
  <cp:lastModifiedBy>Sérgio Lúcio</cp:lastModifiedBy>
  <cp:revision>1</cp:revision>
  <dcterms:modified xsi:type="dcterms:W3CDTF">2025-12-01T20:07:38Z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0x010100A0B3EAC9639D0848AF65E3D31F0AE244</vt:lpwstr>
  </property>
</Properties>
</file>