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3" r:id="rId8"/>
    <p:sldId id="265" r:id="rId9"/>
    <p:sldId id="264" r:id="rId10"/>
    <p:sldId id="267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2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F16"/>
    <a:srgbClr val="00F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57652-56D4-4314-8D01-49B004191788}" v="58" dt="2026-06-16T16:36:29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26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33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45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83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53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66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55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14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9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07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40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D5032-9958-4D13-ABD9-B4F94772C297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945AF-6772-4B96-8C64-125A6A4AE5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4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ineldesid.saude.gov.br/index.php/welcome/ceaf_1b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ctrTitle"/>
          </p:nvPr>
        </p:nvSpPr>
        <p:spPr>
          <a:xfrm>
            <a:off x="2540875" y="2605628"/>
            <a:ext cx="7110249" cy="977314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PAINEL CEAF 1B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3827" y="4379508"/>
            <a:ext cx="4714389" cy="47143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3" y="175096"/>
            <a:ext cx="905070" cy="90507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8094C0E-8081-4049-B210-7F8BD09F93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805" y="3825565"/>
            <a:ext cx="4328390" cy="4645911"/>
          </a:xfrm>
          <a:prstGeom prst="rect">
            <a:avLst/>
          </a:prstGeom>
        </p:spPr>
      </p:pic>
      <p:sp>
        <p:nvSpPr>
          <p:cNvPr id="2" name="Título 2">
            <a:extLst>
              <a:ext uri="{FF2B5EF4-FFF2-40B4-BE49-F238E27FC236}">
                <a16:creationId xmlns:a16="http://schemas.microsoft.com/office/drawing/2014/main" id="{4A4A4472-4113-8050-9DD2-E3099FE9367D}"/>
              </a:ext>
            </a:extLst>
          </p:cNvPr>
          <p:cNvSpPr txBox="1">
            <a:spLocks/>
          </p:cNvSpPr>
          <p:nvPr/>
        </p:nvSpPr>
        <p:spPr>
          <a:xfrm>
            <a:off x="2540874" y="3416708"/>
            <a:ext cx="7110249" cy="7184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>
                <a:solidFill>
                  <a:schemeClr val="bg1"/>
                </a:solidFill>
                <a:latin typeface="Montserrat" pitchFamily="2" charset="0"/>
              </a:rPr>
              <a:t>Monitoramento das aquisições estaduais de medicamentos do grupo 1B</a:t>
            </a: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C0CFF590-C81E-4173-0DA8-16DB5D86D947}"/>
              </a:ext>
            </a:extLst>
          </p:cNvPr>
          <p:cNvSpPr txBox="1">
            <a:spLocks/>
          </p:cNvSpPr>
          <p:nvPr/>
        </p:nvSpPr>
        <p:spPr>
          <a:xfrm>
            <a:off x="2540873" y="188495"/>
            <a:ext cx="7110249" cy="71847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200" dirty="0">
                <a:solidFill>
                  <a:schemeClr val="bg1"/>
                </a:solidFill>
                <a:latin typeface="Montserrat" pitchFamily="2" charset="0"/>
              </a:rPr>
              <a:t>Ministério da Saúde</a:t>
            </a:r>
          </a:p>
          <a:p>
            <a:r>
              <a:rPr lang="pt-BR" sz="1200" dirty="0">
                <a:solidFill>
                  <a:schemeClr val="bg1"/>
                </a:solidFill>
                <a:latin typeface="Montserrat" pitchFamily="2" charset="0"/>
              </a:rPr>
              <a:t>Secretaria Executiva</a:t>
            </a:r>
          </a:p>
          <a:p>
            <a:r>
              <a:rPr lang="pt-BR" sz="1200" dirty="0">
                <a:solidFill>
                  <a:schemeClr val="bg1"/>
                </a:solidFill>
                <a:latin typeface="Montserrat" pitchFamily="2" charset="0"/>
              </a:rPr>
              <a:t>Departamento de Economia e Investimentos em Saúde</a:t>
            </a:r>
          </a:p>
          <a:p>
            <a:r>
              <a:rPr lang="pt-BR" sz="1200" dirty="0">
                <a:solidFill>
                  <a:schemeClr val="bg1"/>
                </a:solidFill>
                <a:latin typeface="Montserrat" pitchFamily="2" charset="0"/>
              </a:rPr>
              <a:t>Coordenação de Gestão de Dados Estatísticos em Saúde</a:t>
            </a:r>
          </a:p>
        </p:txBody>
      </p:sp>
    </p:spTree>
    <p:extLst>
      <p:ext uri="{BB962C8B-B14F-4D97-AF65-F5344CB8AC3E}">
        <p14:creationId xmlns:p14="http://schemas.microsoft.com/office/powerpoint/2010/main" val="1337780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3" y="175096"/>
            <a:ext cx="905070" cy="90507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9" r="27189"/>
          <a:stretch/>
        </p:blipFill>
        <p:spPr>
          <a:xfrm>
            <a:off x="-114421" y="-265013"/>
            <a:ext cx="4942702" cy="717745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8094C0E-8081-4049-B210-7F8BD09F93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5" name="Google Shape;130;p3"/>
          <p:cNvSpPr txBox="1"/>
          <p:nvPr/>
        </p:nvSpPr>
        <p:spPr>
          <a:xfrm>
            <a:off x="5534492" y="2090374"/>
            <a:ext cx="5860339" cy="3613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Contexto da atividade</a:t>
            </a:r>
          </a:p>
          <a:p>
            <a:pPr>
              <a:lnSpc>
                <a:spcPct val="150000"/>
              </a:lnSpc>
            </a:pPr>
            <a:endParaRPr lang="pt-BR" sz="1600" b="1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Base de dados</a:t>
            </a:r>
          </a:p>
          <a:p>
            <a:pPr>
              <a:lnSpc>
                <a:spcPct val="150000"/>
              </a:lnSpc>
            </a:pPr>
            <a:endParaRPr lang="pt-BR" sz="1600" b="1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Dashboard</a:t>
            </a:r>
          </a:p>
          <a:p>
            <a:pPr>
              <a:lnSpc>
                <a:spcPct val="150000"/>
              </a:lnSpc>
            </a:pPr>
            <a:endParaRPr lang="pt-BR" sz="1600" b="1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Resultados</a:t>
            </a:r>
          </a:p>
          <a:p>
            <a:pPr>
              <a:lnSpc>
                <a:spcPct val="150000"/>
              </a:lnSpc>
            </a:pPr>
            <a:endParaRPr lang="pt-BR" sz="1600" b="1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br>
              <a:rPr lang="pt-BR" sz="1200" dirty="0">
                <a:solidFill>
                  <a:schemeClr val="bg1"/>
                </a:solidFill>
                <a:latin typeface="Rawline" panose="00000500000000000000" pitchFamily="2" charset="0"/>
              </a:rPr>
            </a:br>
            <a:endParaRPr lang="pt-BR" sz="1400" dirty="0"/>
          </a:p>
        </p:txBody>
      </p:sp>
      <p:sp>
        <p:nvSpPr>
          <p:cNvPr id="16" name="Triângulo isósceles 15"/>
          <p:cNvSpPr/>
          <p:nvPr/>
        </p:nvSpPr>
        <p:spPr>
          <a:xfrm rot="5400000">
            <a:off x="5308133" y="2267524"/>
            <a:ext cx="130546" cy="10568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Triângulo isósceles 16"/>
          <p:cNvSpPr/>
          <p:nvPr/>
        </p:nvSpPr>
        <p:spPr>
          <a:xfrm rot="5400000">
            <a:off x="5308133" y="2958631"/>
            <a:ext cx="130546" cy="10568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34">
            <a:extLst>
              <a:ext uri="{FF2B5EF4-FFF2-40B4-BE49-F238E27FC236}">
                <a16:creationId xmlns:a16="http://schemas.microsoft.com/office/drawing/2014/main" id="{0CCCA83D-A8F8-4467-BF29-2DBE28535011}"/>
              </a:ext>
            </a:extLst>
          </p:cNvPr>
          <p:cNvSpPr/>
          <p:nvPr/>
        </p:nvSpPr>
        <p:spPr>
          <a:xfrm>
            <a:off x="4534929" y="1018267"/>
            <a:ext cx="4912513" cy="607484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atin typeface="Rawline Black" panose="00000A00000000000000" pitchFamily="2" charset="0"/>
              </a:rPr>
              <a:t>SUMÁRIO EXECUTIVO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23" name="Triângulo isósceles 22"/>
          <p:cNvSpPr/>
          <p:nvPr/>
        </p:nvSpPr>
        <p:spPr>
          <a:xfrm rot="5400000">
            <a:off x="5308133" y="3717658"/>
            <a:ext cx="130546" cy="10568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Elipse 26"/>
          <p:cNvSpPr/>
          <p:nvPr/>
        </p:nvSpPr>
        <p:spPr>
          <a:xfrm>
            <a:off x="10753853" y="5478473"/>
            <a:ext cx="2876294" cy="2867933"/>
          </a:xfrm>
          <a:prstGeom prst="ellipse">
            <a:avLst/>
          </a:prstGeom>
          <a:noFill/>
          <a:ln w="479425">
            <a:solidFill>
              <a:srgbClr val="FECF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9783C3A5-2863-59B0-2E21-02BEF81571A7}"/>
              </a:ext>
            </a:extLst>
          </p:cNvPr>
          <p:cNvSpPr/>
          <p:nvPr/>
        </p:nvSpPr>
        <p:spPr>
          <a:xfrm rot="5400000">
            <a:off x="5308133" y="4475919"/>
            <a:ext cx="130546" cy="10568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8FE2B65-DB81-27B6-FC20-BFF8E9901F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7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8094C0E-8081-4049-B210-7F8BD09F93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0CCCA83D-A8F8-4467-BF29-2DBE28535011}"/>
              </a:ext>
            </a:extLst>
          </p:cNvPr>
          <p:cNvSpPr/>
          <p:nvPr/>
        </p:nvSpPr>
        <p:spPr>
          <a:xfrm>
            <a:off x="-1168115" y="515697"/>
            <a:ext cx="6578315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CONTEXTO DA ATIVIDADE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Google Shape;130;p3">
            <a:extLst>
              <a:ext uri="{FF2B5EF4-FFF2-40B4-BE49-F238E27FC236}">
                <a16:creationId xmlns:a16="http://schemas.microsoft.com/office/drawing/2014/main" id="{696B566C-5F68-F45E-B6DF-9794AF8FC0FB}"/>
              </a:ext>
            </a:extLst>
          </p:cNvPr>
          <p:cNvSpPr txBox="1"/>
          <p:nvPr/>
        </p:nvSpPr>
        <p:spPr>
          <a:xfrm>
            <a:off x="564898" y="1853173"/>
            <a:ext cx="9690604" cy="4013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O que é: 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CEAF 1B é uma estratégia de acesso a medicamentos especializados no âmbito do SUS, cujas linhas de cuidado estão definidas no PCDT.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O problema: 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Nos últimos anos, o aumento expressivo do valor total das aquisições tem pressionado o orçamento federal, responsável pelo repasse de recursos às unidades federativas. Esse cenário é agravado pela assimetria de informações sobre os preços dos medicamentos e pela ausência de uma ferramenta capaz de monitorá-los de forma contínua, dificultando a identificação dos fatores que explicam essa pressão orçamentária.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A demanda: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A SCTIE solicitou uma avaliação acerca da suficiência dos repasses federais e análise do impacto do modelo de descentralização de aquisição do CEAF 1B sobre o orçamento federal.</a:t>
            </a:r>
          </a:p>
        </p:txBody>
      </p:sp>
    </p:spTree>
    <p:extLst>
      <p:ext uri="{BB962C8B-B14F-4D97-AF65-F5344CB8AC3E}">
        <p14:creationId xmlns:p14="http://schemas.microsoft.com/office/powerpoint/2010/main" val="109193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F5E63-4CA8-83BB-450B-D7E6913E9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988206DA-96FD-2BCB-B277-7352330C7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59D5E75B-6D9B-BEE0-8A59-6D481CBD316A}"/>
              </a:ext>
            </a:extLst>
          </p:cNvPr>
          <p:cNvSpPr/>
          <p:nvPr/>
        </p:nvSpPr>
        <p:spPr>
          <a:xfrm>
            <a:off x="-1168115" y="515697"/>
            <a:ext cx="5303133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BASE DOS DADOS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A4C474F1-96FA-82DE-49E0-11A20F1052EE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3" name="r">
            <a:extLst>
              <a:ext uri="{FF2B5EF4-FFF2-40B4-BE49-F238E27FC236}">
                <a16:creationId xmlns:a16="http://schemas.microsoft.com/office/drawing/2014/main" id="{D7E62543-BFD7-323A-7EC5-5D74E75F2567}"/>
              </a:ext>
            </a:extLst>
          </p:cNvPr>
          <p:cNvSpPr>
            <a:spLocks/>
          </p:cNvSpPr>
          <p:nvPr/>
        </p:nvSpPr>
        <p:spPr>
          <a:xfrm>
            <a:off x="344066" y="2070901"/>
            <a:ext cx="3762375" cy="2682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8" name="r">
            <a:extLst>
              <a:ext uri="{FF2B5EF4-FFF2-40B4-BE49-F238E27FC236}">
                <a16:creationId xmlns:a16="http://schemas.microsoft.com/office/drawing/2014/main" id="{F05DB312-6AB2-B8AA-0404-B7FC2860F7FD}"/>
              </a:ext>
            </a:extLst>
          </p:cNvPr>
          <p:cNvSpPr>
            <a:spLocks/>
          </p:cNvSpPr>
          <p:nvPr/>
        </p:nvSpPr>
        <p:spPr>
          <a:xfrm>
            <a:off x="4135018" y="2070901"/>
            <a:ext cx="3762375" cy="2682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9" name="r">
            <a:extLst>
              <a:ext uri="{FF2B5EF4-FFF2-40B4-BE49-F238E27FC236}">
                <a16:creationId xmlns:a16="http://schemas.microsoft.com/office/drawing/2014/main" id="{58E78A26-F808-8FDF-681C-4C2AD2ED7A41}"/>
              </a:ext>
            </a:extLst>
          </p:cNvPr>
          <p:cNvSpPr>
            <a:spLocks/>
          </p:cNvSpPr>
          <p:nvPr/>
        </p:nvSpPr>
        <p:spPr>
          <a:xfrm>
            <a:off x="4135019" y="2070901"/>
            <a:ext cx="3771900" cy="38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0" name="t">
            <a:extLst>
              <a:ext uri="{FF2B5EF4-FFF2-40B4-BE49-F238E27FC236}">
                <a16:creationId xmlns:a16="http://schemas.microsoft.com/office/drawing/2014/main" id="{89B69642-2907-D3E1-381F-AD6796F9E5A7}"/>
              </a:ext>
            </a:extLst>
          </p:cNvPr>
          <p:cNvSpPr txBox="1">
            <a:spLocks/>
          </p:cNvSpPr>
          <p:nvPr/>
        </p:nvSpPr>
        <p:spPr>
          <a:xfrm>
            <a:off x="4249317" y="2044717"/>
            <a:ext cx="3657601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pt-BR" sz="2800" b="1" dirty="0">
                <a:solidFill>
                  <a:srgbClr val="FFFFFF"/>
                </a:solidFill>
                <a:latin typeface="Calibri"/>
              </a:rPr>
              <a:t>PNCP </a:t>
            </a:r>
            <a:r>
              <a:rPr lang="pt-BR" sz="1200" dirty="0">
                <a:solidFill>
                  <a:srgbClr val="FFFFFF"/>
                </a:solidFill>
                <a:latin typeface="Calibri"/>
              </a:rPr>
              <a:t>– Portal Nacional de Contratações Públicas</a:t>
            </a:r>
          </a:p>
        </p:txBody>
      </p:sp>
      <p:sp>
        <p:nvSpPr>
          <p:cNvPr id="41" name="r">
            <a:extLst>
              <a:ext uri="{FF2B5EF4-FFF2-40B4-BE49-F238E27FC236}">
                <a16:creationId xmlns:a16="http://schemas.microsoft.com/office/drawing/2014/main" id="{F9295CDD-D051-3C74-7E41-104C58524316}"/>
              </a:ext>
            </a:extLst>
          </p:cNvPr>
          <p:cNvSpPr>
            <a:spLocks/>
          </p:cNvSpPr>
          <p:nvPr/>
        </p:nvSpPr>
        <p:spPr>
          <a:xfrm>
            <a:off x="7925970" y="2070901"/>
            <a:ext cx="3762375" cy="2682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2" name="r">
            <a:extLst>
              <a:ext uri="{FF2B5EF4-FFF2-40B4-BE49-F238E27FC236}">
                <a16:creationId xmlns:a16="http://schemas.microsoft.com/office/drawing/2014/main" id="{33483C8B-CC68-9FDE-6128-0787BD96E5CB}"/>
              </a:ext>
            </a:extLst>
          </p:cNvPr>
          <p:cNvSpPr>
            <a:spLocks/>
          </p:cNvSpPr>
          <p:nvPr/>
        </p:nvSpPr>
        <p:spPr>
          <a:xfrm>
            <a:off x="7925971" y="2070901"/>
            <a:ext cx="3771900" cy="380000"/>
          </a:xfrm>
          <a:prstGeom prst="rect">
            <a:avLst/>
          </a:prstGeom>
          <a:solidFill>
            <a:srgbClr val="FECF16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3" name="t">
            <a:extLst>
              <a:ext uri="{FF2B5EF4-FFF2-40B4-BE49-F238E27FC236}">
                <a16:creationId xmlns:a16="http://schemas.microsoft.com/office/drawing/2014/main" id="{F330A9F7-3A09-8AE7-EAFB-DA692E700B40}"/>
              </a:ext>
            </a:extLst>
          </p:cNvPr>
          <p:cNvSpPr txBox="1">
            <a:spLocks/>
          </p:cNvSpPr>
          <p:nvPr/>
        </p:nvSpPr>
        <p:spPr>
          <a:xfrm>
            <a:off x="8040270" y="2044717"/>
            <a:ext cx="279654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pt-BR" sz="2800" b="1" dirty="0">
                <a:solidFill>
                  <a:srgbClr val="FFFFFF"/>
                </a:solidFill>
                <a:latin typeface="Calibri"/>
              </a:rPr>
              <a:t>BPS </a:t>
            </a:r>
            <a:r>
              <a:rPr lang="pt-BR" sz="1400" dirty="0">
                <a:solidFill>
                  <a:srgbClr val="FFFFFF"/>
                </a:solidFill>
                <a:latin typeface="Calibri"/>
              </a:rPr>
              <a:t>– Banco de Preços em Saúde</a:t>
            </a:r>
          </a:p>
        </p:txBody>
      </p:sp>
      <p:sp>
        <p:nvSpPr>
          <p:cNvPr id="47" name="r">
            <a:extLst>
              <a:ext uri="{FF2B5EF4-FFF2-40B4-BE49-F238E27FC236}">
                <a16:creationId xmlns:a16="http://schemas.microsoft.com/office/drawing/2014/main" id="{E48DC8BE-0907-BFAB-4A6C-3204832246DF}"/>
              </a:ext>
            </a:extLst>
          </p:cNvPr>
          <p:cNvSpPr>
            <a:spLocks/>
          </p:cNvSpPr>
          <p:nvPr/>
        </p:nvSpPr>
        <p:spPr>
          <a:xfrm>
            <a:off x="344065" y="2070901"/>
            <a:ext cx="3771900" cy="38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7" name="t">
            <a:extLst>
              <a:ext uri="{FF2B5EF4-FFF2-40B4-BE49-F238E27FC236}">
                <a16:creationId xmlns:a16="http://schemas.microsoft.com/office/drawing/2014/main" id="{FFD1EC08-0E15-5279-22B7-5145268BDDFF}"/>
              </a:ext>
            </a:extLst>
          </p:cNvPr>
          <p:cNvSpPr txBox="1">
            <a:spLocks/>
          </p:cNvSpPr>
          <p:nvPr/>
        </p:nvSpPr>
        <p:spPr>
          <a:xfrm>
            <a:off x="458366" y="2044717"/>
            <a:ext cx="279654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pt-BR" sz="2800" b="1" dirty="0">
                <a:solidFill>
                  <a:srgbClr val="FFFFFF"/>
                </a:solidFill>
                <a:latin typeface="Calibri"/>
              </a:rPr>
              <a:t>LAI </a:t>
            </a:r>
            <a:r>
              <a:rPr lang="pt-BR" sz="1400" dirty="0">
                <a:solidFill>
                  <a:srgbClr val="FFFFFF"/>
                </a:solidFill>
                <a:latin typeface="Calibri"/>
              </a:rPr>
              <a:t>– Lei de acesso à informação</a:t>
            </a:r>
          </a:p>
        </p:txBody>
      </p:sp>
      <p:sp>
        <p:nvSpPr>
          <p:cNvPr id="48" name="t">
            <a:extLst>
              <a:ext uri="{FF2B5EF4-FFF2-40B4-BE49-F238E27FC236}">
                <a16:creationId xmlns:a16="http://schemas.microsoft.com/office/drawing/2014/main" id="{F2F9DA47-6D7C-4B96-5969-C235021C1C59}"/>
              </a:ext>
            </a:extLst>
          </p:cNvPr>
          <p:cNvSpPr txBox="1">
            <a:spLocks/>
          </p:cNvSpPr>
          <p:nvPr/>
        </p:nvSpPr>
        <p:spPr>
          <a:xfrm>
            <a:off x="503257" y="2567520"/>
            <a:ext cx="3465195" cy="2073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F172A"/>
                </a:solidFill>
                <a:latin typeface="Rawline" panose="00000500000000000000" pitchFamily="2" charset="0"/>
              </a:rPr>
              <a:t>Solicitações formais de aquisições com medicamentos 1B enviadas às unidades federativas.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0F172A"/>
              </a:solidFill>
              <a:latin typeface="Rawline" panose="00000500000000000000" pitchFamily="2" charset="0"/>
            </a:endParaRP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F172A"/>
                </a:solidFill>
                <a:latin typeface="Rawline" panose="00000500000000000000" pitchFamily="2" charset="0"/>
              </a:rPr>
              <a:t>É a única fonte que permite obter dados de execução efetiva das compras.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0F172A"/>
              </a:solidFill>
              <a:latin typeface="Rawline" panose="00000500000000000000" pitchFamily="2" charset="0"/>
            </a:endParaRP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b="1" dirty="0">
                <a:solidFill>
                  <a:srgbClr val="0F172A"/>
                </a:solidFill>
                <a:latin typeface="Rawline" panose="00000500000000000000" pitchFamily="2" charset="0"/>
              </a:rPr>
              <a:t>Apenas 11 unidades federativas </a:t>
            </a:r>
            <a:r>
              <a:rPr lang="pt-BR" sz="1100" dirty="0">
                <a:solidFill>
                  <a:srgbClr val="0F172A"/>
                </a:solidFill>
                <a:latin typeface="Rawline" panose="00000500000000000000" pitchFamily="2" charset="0"/>
              </a:rPr>
              <a:t>responderam à LAI, enviando informações de compra.</a:t>
            </a:r>
          </a:p>
        </p:txBody>
      </p:sp>
      <p:sp>
        <p:nvSpPr>
          <p:cNvPr id="49" name="t">
            <a:extLst>
              <a:ext uri="{FF2B5EF4-FFF2-40B4-BE49-F238E27FC236}">
                <a16:creationId xmlns:a16="http://schemas.microsoft.com/office/drawing/2014/main" id="{06687EC6-4DE9-ACFF-9837-324DE4304C45}"/>
              </a:ext>
            </a:extLst>
          </p:cNvPr>
          <p:cNvSpPr txBox="1">
            <a:spLocks/>
          </p:cNvSpPr>
          <p:nvPr/>
        </p:nvSpPr>
        <p:spPr>
          <a:xfrm>
            <a:off x="4249317" y="2567520"/>
            <a:ext cx="3465195" cy="2073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i="1" dirty="0">
                <a:latin typeface="Rawline" panose="00000500000000000000" pitchFamily="2" charset="0"/>
              </a:rPr>
              <a:t>Web </a:t>
            </a:r>
            <a:r>
              <a:rPr lang="pt-BR" sz="1100" i="1" dirty="0" err="1">
                <a:latin typeface="Rawline" panose="00000500000000000000" pitchFamily="2" charset="0"/>
              </a:rPr>
              <a:t>scraping</a:t>
            </a:r>
            <a:r>
              <a:rPr lang="pt-BR" sz="1100" dirty="0">
                <a:latin typeface="Rawline" panose="00000500000000000000" pitchFamily="2" charset="0"/>
              </a:rPr>
              <a:t> das licitações públicas.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pt-BR" sz="1100" dirty="0">
              <a:latin typeface="Rawline" panose="00000500000000000000" pitchFamily="2" charset="0"/>
            </a:endParaRP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latin typeface="Rawline" panose="00000500000000000000" pitchFamily="2" charset="0"/>
              </a:rPr>
              <a:t>Com a baixa participação na LAI, partiu-se para o PNCP, sendo a principal base pública de contratações governamentais. Foca no empenho da contratação e não na entrega efetiva dos medicamentos.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pt-BR" sz="1100" dirty="0">
              <a:latin typeface="Rawline" panose="00000500000000000000" pitchFamily="2" charset="0"/>
            </a:endParaRP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latin typeface="Rawline" panose="00000500000000000000" pitchFamily="2" charset="0"/>
              </a:rPr>
              <a:t>Foram encontradas informações de aquisições para </a:t>
            </a:r>
            <a:r>
              <a:rPr lang="pt-BR" sz="1100" b="1" dirty="0">
                <a:latin typeface="Rawline" panose="00000500000000000000" pitchFamily="2" charset="0"/>
              </a:rPr>
              <a:t>09 unidades federativas.</a:t>
            </a:r>
          </a:p>
        </p:txBody>
      </p:sp>
      <p:sp>
        <p:nvSpPr>
          <p:cNvPr id="50" name="t">
            <a:extLst>
              <a:ext uri="{FF2B5EF4-FFF2-40B4-BE49-F238E27FC236}">
                <a16:creationId xmlns:a16="http://schemas.microsoft.com/office/drawing/2014/main" id="{CD4442C8-CE89-525B-F7C6-AB91DA2181F9}"/>
              </a:ext>
            </a:extLst>
          </p:cNvPr>
          <p:cNvSpPr txBox="1">
            <a:spLocks/>
          </p:cNvSpPr>
          <p:nvPr/>
        </p:nvSpPr>
        <p:spPr>
          <a:xfrm>
            <a:off x="8011692" y="2567520"/>
            <a:ext cx="3465195" cy="2073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F172A"/>
                </a:solidFill>
                <a:latin typeface="Rawline" panose="00000500000000000000" pitchFamily="2" charset="0"/>
              </a:rPr>
              <a:t>Extração das aquisições pelo portal.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0F172A"/>
              </a:solidFill>
              <a:latin typeface="Rawline" panose="00000500000000000000" pitchFamily="2" charset="0"/>
            </a:endParaRP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F172A"/>
                </a:solidFill>
                <a:latin typeface="Rawline" panose="00000500000000000000" pitchFamily="2" charset="0"/>
              </a:rPr>
              <a:t>É a fonte mais estruturada. Tem a limitação de que os preços registrados no BPS podem refletir valores de referência ou de contratos anteriores.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0F172A"/>
              </a:solidFill>
              <a:latin typeface="Rawline" panose="00000500000000000000" pitchFamily="2" charset="0"/>
            </a:endParaRP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F172A"/>
                </a:solidFill>
                <a:latin typeface="Rawline" panose="00000500000000000000" pitchFamily="2" charset="0"/>
              </a:rPr>
              <a:t>Foram encontradas informações de aquisições para </a:t>
            </a:r>
            <a:r>
              <a:rPr lang="pt-BR" sz="1100" b="1" dirty="0">
                <a:solidFill>
                  <a:srgbClr val="0F172A"/>
                </a:solidFill>
                <a:latin typeface="Rawline" panose="00000500000000000000" pitchFamily="2" charset="0"/>
              </a:rPr>
              <a:t>16 unidades federativas.</a:t>
            </a:r>
          </a:p>
          <a:p>
            <a:pPr algn="just">
              <a:lnSpc>
                <a:spcPct val="130000"/>
              </a:lnSpc>
            </a:pPr>
            <a:endParaRPr lang="pt-BR" sz="1100" dirty="0">
              <a:solidFill>
                <a:srgbClr val="0F172A"/>
              </a:solidFill>
              <a:latin typeface="Rawline" panose="00000500000000000000" pitchFamily="2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5288057-8722-3640-4965-F26694E10EA2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">
            <a:extLst>
              <a:ext uri="{FF2B5EF4-FFF2-40B4-BE49-F238E27FC236}">
                <a16:creationId xmlns:a16="http://schemas.microsoft.com/office/drawing/2014/main" id="{47837219-51C1-6F65-7D43-665CE310273A}"/>
              </a:ext>
            </a:extLst>
          </p:cNvPr>
          <p:cNvSpPr>
            <a:spLocks/>
          </p:cNvSpPr>
          <p:nvPr/>
        </p:nvSpPr>
        <p:spPr>
          <a:xfrm>
            <a:off x="3604409" y="5048750"/>
            <a:ext cx="4829377" cy="112123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C34BFA95-B699-47D9-78E8-14C1DE44A92E}"/>
              </a:ext>
            </a:extLst>
          </p:cNvPr>
          <p:cNvSpPr>
            <a:spLocks/>
          </p:cNvSpPr>
          <p:nvPr/>
        </p:nvSpPr>
        <p:spPr>
          <a:xfrm>
            <a:off x="3604409" y="5048750"/>
            <a:ext cx="4838255" cy="2867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AE484150-8100-510C-E717-D16232EF5148}"/>
              </a:ext>
            </a:extLst>
          </p:cNvPr>
          <p:cNvSpPr txBox="1">
            <a:spLocks/>
          </p:cNvSpPr>
          <p:nvPr/>
        </p:nvSpPr>
        <p:spPr>
          <a:xfrm>
            <a:off x="5356114" y="4985170"/>
            <a:ext cx="1320181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</a:pPr>
            <a:r>
              <a:rPr lang="pt-BR" b="1" dirty="0">
                <a:solidFill>
                  <a:srgbClr val="FFFFFF"/>
                </a:solidFill>
                <a:latin typeface="Calibri"/>
              </a:rPr>
              <a:t>Atenção!</a:t>
            </a:r>
            <a:endParaRPr lang="pt-BR"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">
            <a:extLst>
              <a:ext uri="{FF2B5EF4-FFF2-40B4-BE49-F238E27FC236}">
                <a16:creationId xmlns:a16="http://schemas.microsoft.com/office/drawing/2014/main" id="{1E8A4DFD-961B-17A1-2A00-CEBF4D52D220}"/>
              </a:ext>
            </a:extLst>
          </p:cNvPr>
          <p:cNvSpPr txBox="1">
            <a:spLocks/>
          </p:cNvSpPr>
          <p:nvPr/>
        </p:nvSpPr>
        <p:spPr>
          <a:xfrm>
            <a:off x="3798352" y="5399060"/>
            <a:ext cx="4457881" cy="7709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>
              <a:lnSpc>
                <a:spcPct val="130000"/>
              </a:lnSpc>
            </a:pPr>
            <a:r>
              <a:rPr lang="pt-BR" sz="1100" dirty="0">
                <a:solidFill>
                  <a:srgbClr val="0F172A"/>
                </a:solidFill>
                <a:latin typeface="Rawline"/>
              </a:rPr>
              <a:t>As três fontes apresentam sobreposições de difícil identificação e correção, sendo recomendado o uso separado de cada uma.</a:t>
            </a:r>
            <a:endParaRPr lang="pt-BR" sz="1100" dirty="0">
              <a:solidFill>
                <a:srgbClr val="0F172A"/>
              </a:solidFill>
              <a:latin typeface="Rawlin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6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4D639-1D9F-8DBF-E91E-C7CBDEC0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E57A4349-C972-E767-2353-A8CC68EF3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06B7A46B-B4FD-2FF9-3B44-228B9B718DC9}"/>
              </a:ext>
            </a:extLst>
          </p:cNvPr>
          <p:cNvSpPr/>
          <p:nvPr/>
        </p:nvSpPr>
        <p:spPr>
          <a:xfrm>
            <a:off x="-1168115" y="515697"/>
            <a:ext cx="5303133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BASE DOS DADOS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39D0B1BD-414D-E584-EFEF-DA3172822A4B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C5C2E31-0146-7D13-FDE0-77DF46730352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5A39CBC-C816-7637-E58D-A52973BBB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706826"/>
              </p:ext>
            </p:extLst>
          </p:nvPr>
        </p:nvGraphicFramePr>
        <p:xfrm>
          <a:off x="3252797" y="1594535"/>
          <a:ext cx="5686405" cy="4668795"/>
        </p:xfrm>
        <a:graphic>
          <a:graphicData uri="http://schemas.openxmlformats.org/drawingml/2006/table">
            <a:tbl>
              <a:tblPr/>
              <a:tblGrid>
                <a:gridCol w="1137281">
                  <a:extLst>
                    <a:ext uri="{9D8B030D-6E8A-4147-A177-3AD203B41FA5}">
                      <a16:colId xmlns:a16="http://schemas.microsoft.com/office/drawing/2014/main" val="1530358874"/>
                    </a:ext>
                  </a:extLst>
                </a:gridCol>
                <a:gridCol w="1137281">
                  <a:extLst>
                    <a:ext uri="{9D8B030D-6E8A-4147-A177-3AD203B41FA5}">
                      <a16:colId xmlns:a16="http://schemas.microsoft.com/office/drawing/2014/main" val="3416485806"/>
                    </a:ext>
                  </a:extLst>
                </a:gridCol>
                <a:gridCol w="1137281">
                  <a:extLst>
                    <a:ext uri="{9D8B030D-6E8A-4147-A177-3AD203B41FA5}">
                      <a16:colId xmlns:a16="http://schemas.microsoft.com/office/drawing/2014/main" val="3391439296"/>
                    </a:ext>
                  </a:extLst>
                </a:gridCol>
                <a:gridCol w="1137281">
                  <a:extLst>
                    <a:ext uri="{9D8B030D-6E8A-4147-A177-3AD203B41FA5}">
                      <a16:colId xmlns:a16="http://schemas.microsoft.com/office/drawing/2014/main" val="2249765864"/>
                    </a:ext>
                  </a:extLst>
                </a:gridCol>
                <a:gridCol w="1137281">
                  <a:extLst>
                    <a:ext uri="{9D8B030D-6E8A-4147-A177-3AD203B41FA5}">
                      <a16:colId xmlns:a16="http://schemas.microsoft.com/office/drawing/2014/main" val="2028320718"/>
                    </a:ext>
                  </a:extLst>
                </a:gridCol>
              </a:tblGrid>
              <a:tr h="292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/>
                        <a:t>Região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/>
                        <a:t>UF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LAI</a:t>
                      </a:r>
                    </a:p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(6.772)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PNCP</a:t>
                      </a:r>
                    </a:p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(2.294)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BPS</a:t>
                      </a:r>
                    </a:p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(1.028)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269610"/>
                  </a:ext>
                </a:extLst>
              </a:tr>
              <a:tr h="19778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Norte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Amazonas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43925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Pará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704872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Rondônia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31053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Tocantins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203748"/>
                  </a:ext>
                </a:extLst>
              </a:tr>
              <a:tr h="197788">
                <a:tc rowSpan="7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Nordeste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Alagoas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203802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Bahia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97646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Ceará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346713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Maranhão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230124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Paraíba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3892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Pernambuco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477541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Sergipe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361706"/>
                  </a:ext>
                </a:extLst>
              </a:tr>
              <a:tr h="197788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Centro-Oeste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Distrito Federal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15600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Goiás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23814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Mato Grosso do Sul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42985"/>
                  </a:ext>
                </a:extLst>
              </a:tr>
              <a:tr h="19778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Sudeste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Espírito Santo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18429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Minas Gerais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460271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Rio de Janeiro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62557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São Paulo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454224"/>
                  </a:ext>
                </a:extLst>
              </a:tr>
              <a:tr h="197788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Paraná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94859"/>
                  </a:ext>
                </a:extLst>
              </a:tr>
              <a:tr h="19778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/>
                        <a:t>Rio Grande do Sul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effectLst/>
                        </a:rPr>
                        <a:t>✓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228462"/>
                  </a:ext>
                </a:extLst>
              </a:tr>
              <a:tr h="277587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/>
                        <a:t>Total</a:t>
                      </a: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effectLst/>
                        </a:rPr>
                        <a:t>11</a:t>
                      </a: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effectLst/>
                        </a:rPr>
                        <a:t>9</a:t>
                      </a:r>
                      <a:endParaRPr lang="pt-BR" sz="100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>
                          <a:effectLst/>
                        </a:rPr>
                        <a:t>16</a:t>
                      </a:r>
                      <a:endParaRPr lang="pt-BR" sz="1000" dirty="0">
                        <a:effectLst/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50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13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7BAE7-8EE7-BD62-7A80-379F525A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C758EDCC-1D22-6A07-0528-9DE8FF8242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E9510B26-74E5-73B3-042E-B48113CB165B}"/>
              </a:ext>
            </a:extLst>
          </p:cNvPr>
          <p:cNvSpPr/>
          <p:nvPr/>
        </p:nvSpPr>
        <p:spPr>
          <a:xfrm>
            <a:off x="-1168114" y="515697"/>
            <a:ext cx="3609390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DASHBOARD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0C018C45-13FD-9A41-0490-B6A1CC966652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Google Shape;130;p3">
            <a:extLst>
              <a:ext uri="{FF2B5EF4-FFF2-40B4-BE49-F238E27FC236}">
                <a16:creationId xmlns:a16="http://schemas.microsoft.com/office/drawing/2014/main" id="{3903FC2F-B987-81C2-9D46-D44941CD1C47}"/>
              </a:ext>
            </a:extLst>
          </p:cNvPr>
          <p:cNvSpPr txBox="1"/>
          <p:nvPr/>
        </p:nvSpPr>
        <p:spPr>
          <a:xfrm>
            <a:off x="564898" y="1847723"/>
            <a:ext cx="9690604" cy="402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Objetivo: 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ferramenta analítica para monitoramento contínuo com a função de: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Subsidiar a avaliação da suficiência dos repasses federais, identificar;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Identificar assimetrias de preços entre unidades federativas e estimar a economia potencial; e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Mapear a estrutura de mercado dos fornecedores.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Limitações: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Cobertura parcial das unidades federativas;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Três fontes não comparáveis entre si;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necessidade de </a:t>
            </a: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melhoria 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e automatização do processo de acesso aos dados de aquisições estaduais.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bg1"/>
                </a:solidFill>
                <a:latin typeface="Rawline" panose="00000500000000000000" pitchFamily="2" charset="0"/>
              </a:rPr>
              <a:t>Link: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https://paineldesid.saude.gov.br/index.php/welcome/ceaf_1b/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B6E16E5-9D14-F830-89A3-96EFFCBE2B92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98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4ED2F-53F8-D66E-823D-315F7DB2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2D4B44BF-1F8B-78D7-5FB7-6048AA83BA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FA4C2CEF-52EF-FD35-6F3B-555A5921BA79}"/>
              </a:ext>
            </a:extLst>
          </p:cNvPr>
          <p:cNvSpPr/>
          <p:nvPr/>
        </p:nvSpPr>
        <p:spPr>
          <a:xfrm>
            <a:off x="-1168114" y="515697"/>
            <a:ext cx="5880558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Visão Geral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F19EA8AC-AB54-B72F-EE18-9411224497F0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6F86CC1-44F9-041A-0E7E-86F31DCCD969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EA6344-313A-FC54-FAD0-01C2ACD76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59" y="1331084"/>
            <a:ext cx="9512194" cy="531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7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52F9B-E4E5-D7E9-E0F4-9F6FE1A7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7504FC4E-37B2-FC5D-431B-A7FB33D729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56FA39A8-BCDC-B0CB-50C6-6F56AC5F6AB6}"/>
              </a:ext>
            </a:extLst>
          </p:cNvPr>
          <p:cNvSpPr/>
          <p:nvPr/>
        </p:nvSpPr>
        <p:spPr>
          <a:xfrm>
            <a:off x="-1168114" y="515697"/>
            <a:ext cx="5880558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Visão Geral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8989EEE6-52E5-B8B0-08B4-D4C1DC13C24D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BEF97E89-0181-CC67-D37B-7D07110CAF3B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D2C571A5-3EBC-43BB-770C-E3E1D9013FD3}"/>
              </a:ext>
            </a:extLst>
          </p:cNvPr>
          <p:cNvSpPr txBox="1"/>
          <p:nvPr/>
        </p:nvSpPr>
        <p:spPr>
          <a:xfrm>
            <a:off x="564898" y="1847723"/>
            <a:ext cx="9690604" cy="402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visualizar o gasto total acumulado, os itens comprados e o número de medicamentos distintos no período selecionado, com filtros por fonte de dados, UF e medicamento;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A Classificação ABC (Pareto) e a tabela de dados agrupados identificam quais medicamentos e fornecedores concentram o gasto, detalhando número de compras, quantidade, valor total e preço médio praticado;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No período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jan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/2020–dez/2025, o gasto total acumulado nas aquisições monitoradas atingiu R$ 2,6 bi, com 330 milhões de itens comprados e 38 medicamentos distintos;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Os três maiores itens por valor —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(50 mg e 25 mg) e Omalizumabe (150 mg), todos fornecidos pela Novartis — respondem por cerca de R$ 1,18 bi, aproximadamente 45% do gasto total acumulado.</a:t>
            </a:r>
          </a:p>
        </p:txBody>
      </p:sp>
    </p:spTree>
    <p:extLst>
      <p:ext uri="{BB962C8B-B14F-4D97-AF65-F5344CB8AC3E}">
        <p14:creationId xmlns:p14="http://schemas.microsoft.com/office/powerpoint/2010/main" val="294135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ABD31-BF6F-BF7D-2BD9-71B31127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419792B-2660-12FC-8D57-A9F8B9D85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1A9D8010-9010-802E-0D11-7016A6E2F847}"/>
              </a:ext>
            </a:extLst>
          </p:cNvPr>
          <p:cNvSpPr/>
          <p:nvPr/>
        </p:nvSpPr>
        <p:spPr>
          <a:xfrm>
            <a:off x="-1168114" y="515697"/>
            <a:ext cx="7044600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Previsão de gastos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568E83E7-C9A1-0C41-6C3C-BF9BC2CE87EE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C7796415-C5AA-EE56-33A7-F4F4EAB62E51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07714E-461D-BB6A-A821-E029C6B0DC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885" y="1331084"/>
            <a:ext cx="9501541" cy="531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0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E676F-A8BA-CF47-F353-280A0919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6D326B4-AD77-4482-BC4C-00ADD6F4F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B40B92BC-0E80-BD2D-52C8-D7A0B3D17570}"/>
              </a:ext>
            </a:extLst>
          </p:cNvPr>
          <p:cNvSpPr/>
          <p:nvPr/>
        </p:nvSpPr>
        <p:spPr>
          <a:xfrm>
            <a:off x="-1168114" y="515697"/>
            <a:ext cx="7044600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Previsão de gastos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72E7F1C5-B9A1-2C7D-A8AB-5BFBCED8AB12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DD01BC3-D6F2-368C-359B-2C068179098A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2654B3FE-E11E-E4A6-3342-F432E5864A1D}"/>
              </a:ext>
            </a:extLst>
          </p:cNvPr>
          <p:cNvSpPr txBox="1"/>
          <p:nvPr/>
        </p:nvSpPr>
        <p:spPr>
          <a:xfrm>
            <a:off x="564898" y="2586386"/>
            <a:ext cx="9690604" cy="254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selecionar medicamento e horizonte de projeção (3 a 12 meses), gerando previsão de gasto via modelo de séries temporais com intervalo de incerteza — cenários mínimo e máximo — para subsidiar o planejamento orçamentário;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Para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, o modelo projeta um gasto total de R$ 192,7 mi nos próximos 6 meses, com alta volatilidade mensal — o cenário máximo para dezembro de 2025 chega a R$ 66,1 mi, mais que o triplo do cenário mínimo.</a:t>
            </a:r>
          </a:p>
        </p:txBody>
      </p:sp>
    </p:spTree>
    <p:extLst>
      <p:ext uri="{BB962C8B-B14F-4D97-AF65-F5344CB8AC3E}">
        <p14:creationId xmlns:p14="http://schemas.microsoft.com/office/powerpoint/2010/main" val="301405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6CBAC-45B2-749C-52D3-20F34680A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16EA65B4-2ECE-FCA0-B123-A6CFB02E3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BD13981A-2D8B-10E4-A1F5-AFFDAC7BD29A}"/>
              </a:ext>
            </a:extLst>
          </p:cNvPr>
          <p:cNvSpPr/>
          <p:nvPr/>
        </p:nvSpPr>
        <p:spPr>
          <a:xfrm>
            <a:off x="-1168114" y="515697"/>
            <a:ext cx="7816422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Evolução e distribuição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78739970-4AA2-3585-AF23-F41449D7F17A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C2E379E4-8B42-FD43-7108-69ACFA1F1BC8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77E39F-C9F0-D45B-6EC3-843A39698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885" y="1347289"/>
            <a:ext cx="9501541" cy="528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4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9E1D9-EC3B-5273-B488-7C9D006F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FB622F6B-6D7D-B0DB-4B02-7B4B88A7E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DE29F67F-F9B1-FDCF-AA39-8F2870D6C0A1}"/>
              </a:ext>
            </a:extLst>
          </p:cNvPr>
          <p:cNvSpPr/>
          <p:nvPr/>
        </p:nvSpPr>
        <p:spPr>
          <a:xfrm>
            <a:off x="-1168114" y="515697"/>
            <a:ext cx="7816422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Evolução e distribuição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D85573A2-1BC0-6366-7732-BEAF4F0AE51E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3AF39B7-8835-36CE-B3DB-E743CE350485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A6776562-F554-FC73-FE30-B5B9D11C3049}"/>
              </a:ext>
            </a:extLst>
          </p:cNvPr>
          <p:cNvSpPr txBox="1"/>
          <p:nvPr/>
        </p:nvSpPr>
        <p:spPr>
          <a:xfrm>
            <a:off x="511632" y="1222822"/>
            <a:ext cx="9690604" cy="5501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comparar o preço médio praticado por cada UF para um mesmo medicamento, com ranking, mapa de distribuição espacial e evolução temporal — identificando quais estados compram mais caro e monitorando a convergência ou divergência de preços ao longo do tempo;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O mapa de distribuição espacial e o gráfico de evolução permitem cruzar a dimensão geográfica com a temporal, revelando padrões regionais persistentes e mudanças de patamar de preço associadas a novas licitações ou incorporações;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Para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, o preço médio geral é de R$ 191,83, mas a dispersão entre estados é expressiva: BA e RO lideram com preços próximos a R$ 200, enquanto DF registra o menor patamar — diferença que pode refletir volume de compra, poder de negociação ou condições contratuais distintas;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A evolução temporal mostra uma tendência de convergência de preços entre 2021 e 2025, com estados que pagavam acima de R$ 250 aproximando-se da média — sugerindo maior eficiência nas contratações mais recentes, ainda que a dispersão entre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UFs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persista.</a:t>
            </a:r>
          </a:p>
        </p:txBody>
      </p:sp>
    </p:spTree>
    <p:extLst>
      <p:ext uri="{BB962C8B-B14F-4D97-AF65-F5344CB8AC3E}">
        <p14:creationId xmlns:p14="http://schemas.microsoft.com/office/powerpoint/2010/main" val="315618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2DCD-4596-907C-A612-5AC740DD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8CE14327-AEA5-B32F-AE7F-3CD20564A4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1D3FD2B6-F2D4-2A95-906A-119B50E8BBA4}"/>
              </a:ext>
            </a:extLst>
          </p:cNvPr>
          <p:cNvSpPr/>
          <p:nvPr/>
        </p:nvSpPr>
        <p:spPr>
          <a:xfrm>
            <a:off x="-1168114" y="515697"/>
            <a:ext cx="7245826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Economia potencial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20D63E9A-406E-6DC2-1C82-42437213D334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D0998D2-1F75-DCC9-6A59-40799B6900DC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D3ED0FA-5FB3-2F00-C439-9A5ED6734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173" y="1347289"/>
            <a:ext cx="9438964" cy="528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00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714AB-ED03-DAA4-6C50-86D31061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CE2290E3-58AE-4951-CC3F-35A62315AF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5" name="r">
            <a:extLst>
              <a:ext uri="{FF2B5EF4-FFF2-40B4-BE49-F238E27FC236}">
                <a16:creationId xmlns:a16="http://schemas.microsoft.com/office/drawing/2014/main" id="{823D16D2-585B-4BD1-4FC9-63FE2C3A49A0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A353F54-A60C-3F80-AAD7-18C62F54C5BF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260BAB7D-8DF8-8746-D58C-1A402543F328}"/>
              </a:ext>
            </a:extLst>
          </p:cNvPr>
          <p:cNvSpPr txBox="1"/>
          <p:nvPr/>
        </p:nvSpPr>
        <p:spPr>
          <a:xfrm>
            <a:off x="511632" y="2146152"/>
            <a:ext cx="9690604" cy="365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simular, por medicamento e ano, quanto cada UF poderia ter economizado caso tivesse adquirido ao menor preço médio observado na amostra — o benchmark — funcionando como indicador de eficiência relativa entre estados e instrumento de apoio à revisão dos repasses federais;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Para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, a economia potencial total estimada é de R$ 267,8 mi, tendo o DF como benchmark com preço médio de R$ 136,73 — contra preços que chegam a R$ 222,96 na BA e R$ 217,99 em RO;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SP concentra a maior economia potencial absoluta: R$ 173,8 mi, reflexo do seu volume expressivo de compras (3 milhões de unidades) a um preço médio de R$ 193,65 — mesmo sendo um dos estados mais eficientes em preço, seu volume eleva o impacto potencial de qualquer diferencial.</a:t>
            </a:r>
          </a:p>
        </p:txBody>
      </p:sp>
      <p:sp>
        <p:nvSpPr>
          <p:cNvPr id="6" name="Retângulo: Cantos Arredondados 34">
            <a:extLst>
              <a:ext uri="{FF2B5EF4-FFF2-40B4-BE49-F238E27FC236}">
                <a16:creationId xmlns:a16="http://schemas.microsoft.com/office/drawing/2014/main" id="{9476BC37-CE7A-45A1-CB47-647AE9D9E93D}"/>
              </a:ext>
            </a:extLst>
          </p:cNvPr>
          <p:cNvSpPr/>
          <p:nvPr/>
        </p:nvSpPr>
        <p:spPr>
          <a:xfrm>
            <a:off x="-1168114" y="515697"/>
            <a:ext cx="7245826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Economia potencial</a:t>
            </a:r>
            <a:endParaRPr lang="pt-BR" sz="2800" dirty="0">
              <a:latin typeface="Rawline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023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B33A8-91C4-8146-2A4F-76697958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918093FC-031D-E52F-F86F-AA727E7A39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E88CACF2-22C7-DAAB-2798-E8BCE3B260A3}"/>
              </a:ext>
            </a:extLst>
          </p:cNvPr>
          <p:cNvSpPr/>
          <p:nvPr/>
        </p:nvSpPr>
        <p:spPr>
          <a:xfrm>
            <a:off x="-1168114" y="515697"/>
            <a:ext cx="7816422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Perfil dos fornecedores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783B2DB1-39FB-2133-4C65-8BD087AB5A50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FE1E6B1-0559-2E61-DCE8-E3F3DB21005E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ED002E-6871-ADC6-88F9-722FF9909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173" y="1391915"/>
            <a:ext cx="9438964" cy="519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90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5303B-3CF9-D307-1598-30F7773D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71ED0A46-5637-24B0-A189-D2AC13E6E8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265A9F36-DB21-6F8F-1C68-5224A609CCD9}"/>
              </a:ext>
            </a:extLst>
          </p:cNvPr>
          <p:cNvSpPr/>
          <p:nvPr/>
        </p:nvSpPr>
        <p:spPr>
          <a:xfrm>
            <a:off x="-1168114" y="515697"/>
            <a:ext cx="7816422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Perfil dos fornecedores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E354ABA7-8202-D27B-6D16-D8F5B3BBF618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FEDEE60-BDC9-9100-1AE2-CBB10302C263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0D38ACFC-AE06-2912-C938-54BEB8F4BFFF}"/>
              </a:ext>
            </a:extLst>
          </p:cNvPr>
          <p:cNvSpPr txBox="1"/>
          <p:nvPr/>
        </p:nvSpPr>
        <p:spPr>
          <a:xfrm>
            <a:off x="511632" y="2700149"/>
            <a:ext cx="9690604" cy="254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identificar os maiores fornecedores por valor e por quantidade, com filtros por ano, UF e medicamento, e detalha para cada fornecedor as medidas de dispersão de preços — mínimo, máximo, mediana, desvio padrão e coeficiente de variação — revelando não apenas quem domina o mercado, mas com que consistência de preço;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Para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em 2025, a Novartis concentra o maior volume absoluto em valor (R$ ~250 mi) e quantidade (~1 mi de unidades), com preço médio de R$ 171,85 — porém com coeficiente de variação de 0,33, indicando dispersão relevante nas contratações, possivelmente reflexo de negociações distintas entre estados.</a:t>
            </a:r>
          </a:p>
        </p:txBody>
      </p:sp>
    </p:spTree>
    <p:extLst>
      <p:ext uri="{BB962C8B-B14F-4D97-AF65-F5344CB8AC3E}">
        <p14:creationId xmlns:p14="http://schemas.microsoft.com/office/powerpoint/2010/main" val="1794160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D088C-0847-52D0-D1F3-29D06FA0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9F32D52-01B3-D1D0-1805-DAF9B4400A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D5F87E34-9837-A69E-FDBA-51F7EC83C0A2}"/>
              </a:ext>
            </a:extLst>
          </p:cNvPr>
          <p:cNvSpPr/>
          <p:nvPr/>
        </p:nvSpPr>
        <p:spPr>
          <a:xfrm>
            <a:off x="-1168114" y="515697"/>
            <a:ext cx="8343224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Concentração de mercado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8B97E1BD-B3A6-E4CA-3C4C-DFC158D0B2B5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8810084-C655-C524-D724-0598A5008B08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72A18BB-9F0D-11A7-B953-8350F1E8A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930" y="1391915"/>
            <a:ext cx="9287450" cy="519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18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8D3B3-FD9B-420B-D8A2-E28F2C98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7E9C0FEC-F8AE-2495-229D-5708FE7272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38BE088F-15C8-BBDA-9ACF-7BC28AAE11A3}"/>
              </a:ext>
            </a:extLst>
          </p:cNvPr>
          <p:cNvSpPr/>
          <p:nvPr/>
        </p:nvSpPr>
        <p:spPr>
          <a:xfrm>
            <a:off x="-1168114" y="515697"/>
            <a:ext cx="8343224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Concentração de mercado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AC358AB1-7404-7E88-6201-5D98050D30FA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EBB6B7FB-4F64-A275-581D-955134527851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1B37F5AD-8F88-92D2-32C2-CAE1A22E3AF0}"/>
              </a:ext>
            </a:extLst>
          </p:cNvPr>
          <p:cNvSpPr txBox="1"/>
          <p:nvPr/>
        </p:nvSpPr>
        <p:spPr>
          <a:xfrm>
            <a:off x="511632" y="1961486"/>
            <a:ext cx="9690604" cy="402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Apresenta a Curva de Lorenz,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market-share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por fornecedor e os indicadores CR4, CR8 e IHH, permitindo avaliar o grau de concentração do mercado por medicamento, ano e UF — sinalizando riscos de dependência de fornecedor e limitações ao poder de negociação dos estados;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Para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, o mercado é altamente concentrado: CR4 de 98,42% e CR8 de 99,99% indicam que praticamente todo o fornecimento está nas mãos de 4 empresas, com a Novartis dominando via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market-share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de forma amplamente majoritária conforme o gráfico de rosca;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O IHH de 7.653 — em uma escala de 0 a 10.000 — confirma concentração extrema, muito acima do limiar de 2.500 usualmente adotado por órgãos antitruste para caracterizar mercados altamente concentrados, o que implica risco estrutural de pressão de preços e vulnerabilidade ao desabastecimento.</a:t>
            </a:r>
          </a:p>
        </p:txBody>
      </p:sp>
    </p:spTree>
    <p:extLst>
      <p:ext uri="{BB962C8B-B14F-4D97-AF65-F5344CB8AC3E}">
        <p14:creationId xmlns:p14="http://schemas.microsoft.com/office/powerpoint/2010/main" val="3856321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D3578-195B-125E-9A73-3B17567A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61DF38B-2EFA-F031-FDB2-F872478BB8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94D8D6DA-A3AA-281F-DA46-72209436317C}"/>
              </a:ext>
            </a:extLst>
          </p:cNvPr>
          <p:cNvSpPr/>
          <p:nvPr/>
        </p:nvSpPr>
        <p:spPr>
          <a:xfrm>
            <a:off x="-1168114" y="515697"/>
            <a:ext cx="7940178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Comparativos entre </a:t>
            </a:r>
            <a:r>
              <a:rPr lang="pt-BR" sz="3200" dirty="0" err="1">
                <a:latin typeface="Rawline Black" panose="00000A00000000000000" pitchFamily="2" charset="0"/>
              </a:rPr>
              <a:t>UFs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A553DBA8-340E-9F80-2DA5-2842558FC1F1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BD1268-8D73-BBB9-D98B-62F1207325B1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4116462-9336-63ED-C735-C4A5D8D77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930" y="1422677"/>
            <a:ext cx="9287450" cy="513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69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201D3-6823-7EE1-D303-6A46502E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C1763A1B-9E09-8AA6-2D81-4BB61C1F5E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D3E55494-5296-9868-D167-61561FAA4D56}"/>
              </a:ext>
            </a:extLst>
          </p:cNvPr>
          <p:cNvSpPr/>
          <p:nvPr/>
        </p:nvSpPr>
        <p:spPr>
          <a:xfrm>
            <a:off x="-1168114" y="515697"/>
            <a:ext cx="7940178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Comparativos entre </a:t>
            </a:r>
            <a:r>
              <a:rPr lang="pt-BR" sz="3200" dirty="0" err="1">
                <a:latin typeface="Rawline Black" panose="00000A00000000000000" pitchFamily="2" charset="0"/>
              </a:rPr>
              <a:t>UFs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B58BE366-DF54-7D61-5AA0-2FE6B8D32DBD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EEDC8B0E-AB93-7F62-055F-67EACFB3A6E9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A7FA06DE-E709-5FA8-D9B8-FACE22E24BE0}"/>
              </a:ext>
            </a:extLst>
          </p:cNvPr>
          <p:cNvSpPr txBox="1"/>
          <p:nvPr/>
        </p:nvSpPr>
        <p:spPr>
          <a:xfrm>
            <a:off x="511632" y="1961486"/>
            <a:ext cx="9690604" cy="402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selecionar múltiplas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UFs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e acompanhar lado a lado a evolução mensal do gasto, o gasto total no ano e o gasto per capita por medicamento — normalizando o comparativo pela população e tornando a comparação mais justa entre estados de tamanhos distintos;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Na comparação entre BA e SP para o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Eltrombopague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Rawline" panose="00000500000000000000" pitchFamily="2" charset="0"/>
              </a:rPr>
              <a:t>Olamina</a:t>
            </a: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, SP supera amplamente a BA em gasto total absoluto (aproximadamente R$ 590 mi vs. R$ 47 mi), com volume mensal crescente e alta volatilidade a partir de 2023;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O gasto per capita, porém, aproxima os dois estados — sugerindo que a diferença absoluta é explicada majoritariamente pelo tamanho populacional de SP, e não por uma política de acesso mais ampla ou preços mais elevados.</a:t>
            </a:r>
          </a:p>
        </p:txBody>
      </p:sp>
    </p:spTree>
    <p:extLst>
      <p:ext uri="{BB962C8B-B14F-4D97-AF65-F5344CB8AC3E}">
        <p14:creationId xmlns:p14="http://schemas.microsoft.com/office/powerpoint/2010/main" val="299597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7F437-3053-EF61-B0EE-60F145B5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968BF3A-B93A-DEDB-66D0-A6F345ADD5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AE6132AE-F1E4-35F9-9228-A6E7BDF6CD23}"/>
              </a:ext>
            </a:extLst>
          </p:cNvPr>
          <p:cNvSpPr/>
          <p:nvPr/>
        </p:nvSpPr>
        <p:spPr>
          <a:xfrm>
            <a:off x="-1168114" y="515697"/>
            <a:ext cx="6936469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Repasses federais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A54AA46E-4742-EAC4-5704-688F7FA9AF03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032CCA44-A27D-4F21-6926-789F04635CEE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455F42-1180-915E-FA98-25F0E5DE8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930" y="1441755"/>
            <a:ext cx="9287450" cy="509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12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7E3B9-6860-E77D-ED64-D76CDB0A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2BAF2D30-888B-8C14-80EA-FB17DBB4BB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sp>
        <p:nvSpPr>
          <p:cNvPr id="19" name="Retângulo: Cantos Arredondados 34">
            <a:extLst>
              <a:ext uri="{FF2B5EF4-FFF2-40B4-BE49-F238E27FC236}">
                <a16:creationId xmlns:a16="http://schemas.microsoft.com/office/drawing/2014/main" id="{5DFF7FD9-0864-5AB9-4769-1BC49AD64D1C}"/>
              </a:ext>
            </a:extLst>
          </p:cNvPr>
          <p:cNvSpPr/>
          <p:nvPr/>
        </p:nvSpPr>
        <p:spPr>
          <a:xfrm>
            <a:off x="-1168114" y="515697"/>
            <a:ext cx="6936469" cy="662137"/>
          </a:xfrm>
          <a:prstGeom prst="roundRect">
            <a:avLst>
              <a:gd name="adj" fmla="val 50000"/>
            </a:avLst>
          </a:prstGeom>
          <a:solidFill>
            <a:srgbClr val="173D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3200" dirty="0">
                <a:latin typeface="Rawline Black" panose="00000A00000000000000" pitchFamily="2" charset="0"/>
              </a:rPr>
              <a:t>RESULTADOS – Repasses federais</a:t>
            </a:r>
            <a:endParaRPr lang="pt-BR" sz="2800" dirty="0">
              <a:latin typeface="Rawline Black" panose="00000A00000000000000" pitchFamily="2" charset="0"/>
            </a:endParaRPr>
          </a:p>
        </p:txBody>
      </p:sp>
      <p:sp>
        <p:nvSpPr>
          <p:cNvPr id="5" name="r">
            <a:extLst>
              <a:ext uri="{FF2B5EF4-FFF2-40B4-BE49-F238E27FC236}">
                <a16:creationId xmlns:a16="http://schemas.microsoft.com/office/drawing/2014/main" id="{DFEC6C7A-952B-04DE-3BDA-61B262F0C09C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5D86C2D-DACA-409C-8475-7CD104C2B241}"/>
              </a:ext>
            </a:extLst>
          </p:cNvPr>
          <p:cNvSpPr/>
          <p:nvPr/>
        </p:nvSpPr>
        <p:spPr>
          <a:xfrm>
            <a:off x="10426594" y="5456197"/>
            <a:ext cx="3493488" cy="3483333"/>
          </a:xfrm>
          <a:prstGeom prst="ellipse">
            <a:avLst/>
          </a:prstGeom>
          <a:noFill/>
          <a:ln w="479425">
            <a:solidFill>
              <a:srgbClr val="00F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30;p3">
            <a:extLst>
              <a:ext uri="{FF2B5EF4-FFF2-40B4-BE49-F238E27FC236}">
                <a16:creationId xmlns:a16="http://schemas.microsoft.com/office/drawing/2014/main" id="{C9E4534B-A4AF-F373-DBDA-CE1C219D139F}"/>
              </a:ext>
            </a:extLst>
          </p:cNvPr>
          <p:cNvSpPr txBox="1"/>
          <p:nvPr/>
        </p:nvSpPr>
        <p:spPr>
          <a:xfrm>
            <a:off x="511632" y="1961486"/>
            <a:ext cx="9690604" cy="402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Permite acompanhar a evolução anual do repasse federal total e por UF, com ranking entre estados e um painel de Repasse x Gasto que cruza o valor transferido pelo Ministério da Saúde com o gasto efetivamente declarado pelos estados — sinalizando possíveis insuficiências ou superávits de financiamento por unidade federativa;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O repasse federal total cresceu de forma acelerada e contínua: saiu de aproximadamente R$ 400 mi em 2020 para mais de R$ 1,5 bi em 2025, representando um crescimento superior a 275% em cinco anos — trajetória que evidencia a pressão crescente sobre o orçamento federal;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Rawline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Rawline" panose="00000500000000000000" pitchFamily="2" charset="0"/>
              </a:rPr>
              <a:t>No comparativo de Repasse x Gasto, PB se destaca com razão próxima a 600% — embora esse resultado deva ser interpretado com cautela, dado que a cobertura das bases é parcial e pode não capturar o total de repasses destinados ao estado.</a:t>
            </a:r>
          </a:p>
        </p:txBody>
      </p:sp>
    </p:spTree>
    <p:extLst>
      <p:ext uri="{BB962C8B-B14F-4D97-AF65-F5344CB8AC3E}">
        <p14:creationId xmlns:p14="http://schemas.microsoft.com/office/powerpoint/2010/main" val="3632775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8094C0E-8081-4049-B210-7F8BD09F93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727" y="133415"/>
            <a:ext cx="2233611" cy="1044419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3" y="175096"/>
            <a:ext cx="905070" cy="90507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3827" y="4379508"/>
            <a:ext cx="4714389" cy="471438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723" y="0"/>
            <a:ext cx="6370834" cy="68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60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1C67C7E7FC5E42BD9E7F6940549041" ma:contentTypeVersion="16" ma:contentTypeDescription="Create a new document." ma:contentTypeScope="" ma:versionID="6ca47c43936bbff7873e4e11cb76f975">
  <xsd:schema xmlns:xsd="http://www.w3.org/2001/XMLSchema" xmlns:xs="http://www.w3.org/2001/XMLSchema" xmlns:p="http://schemas.microsoft.com/office/2006/metadata/properties" xmlns:ns3="6c6fd236-52fe-4fa8-a937-501cbaa60a85" xmlns:ns4="3c3f0a2d-3a45-445a-8d77-a790fc131fc1" targetNamespace="http://schemas.microsoft.com/office/2006/metadata/properties" ma:root="true" ma:fieldsID="614ede52845240b05ad7b24bd710b406" ns3:_="" ns4:_="">
    <xsd:import namespace="6c6fd236-52fe-4fa8-a937-501cbaa60a85"/>
    <xsd:import namespace="3c3f0a2d-3a45-445a-8d77-a790fc131fc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6fd236-52fe-4fa8-a937-501cbaa60a8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f0a2d-3a45-445a-8d77-a790fc131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3f0a2d-3a45-445a-8d77-a790fc131fc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0ABAF9-7877-4460-83BA-3F3D42F3D9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6fd236-52fe-4fa8-a937-501cbaa60a85"/>
    <ds:schemaRef ds:uri="3c3f0a2d-3a45-445a-8d77-a790fc131f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A5AC82-9557-4C0F-984A-691C60218285}">
  <ds:schemaRefs>
    <ds:schemaRef ds:uri="http://purl.org/dc/dcmitype/"/>
    <ds:schemaRef ds:uri="3c3f0a2d-3a45-445a-8d77-a790fc131fc1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6c6fd236-52fe-4fa8-a937-501cbaa60a85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119E054-9FAC-4FE7-8F11-2EFD8CFE32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1724</Words>
  <Application>Microsoft Office PowerPoint</Application>
  <PresentationFormat>Widescreen</PresentationFormat>
  <Paragraphs>185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Montserrat</vt:lpstr>
      <vt:lpstr>Montserrat ExtraBold</vt:lpstr>
      <vt:lpstr>Rawline</vt:lpstr>
      <vt:lpstr>Rawline Black</vt:lpstr>
      <vt:lpstr>Tema do Office</vt:lpstr>
      <vt:lpstr>PAINEL CEAF 1B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Principal da Apresentação</dc:title>
  <dc:creator>Daniel Miranda Costa</dc:creator>
  <cp:lastModifiedBy>Felipe Duplat Luz</cp:lastModifiedBy>
  <cp:revision>238</cp:revision>
  <dcterms:created xsi:type="dcterms:W3CDTF">2025-05-30T18:36:35Z</dcterms:created>
  <dcterms:modified xsi:type="dcterms:W3CDTF">2026-06-16T16:38:13Z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0x010100991C67C7E7FC5E42BD9E7F6940549041</vt:lpwstr>
  </property>
</Properties>
</file>